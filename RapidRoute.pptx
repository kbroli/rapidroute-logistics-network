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ea65fae2244e39" /><Relationship Type="http://schemas.openxmlformats.org/officeDocument/2006/relationships/extended-properties" Target="/docProps/app.xml" Id="R5ca1171e5b484d5c" /><Relationship Type="http://schemas.openxmlformats.org/officeDocument/2006/relationships/officeDocument" Target="/ppt/presentation.xml" Id="Re75c266f09cd4e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3712bd6759430e"/>
  </p:sldMasterIdLst>
  <p:notesMasterIdLst>
    <p:notesMasterId xmlns:r="http://schemas.openxmlformats.org/officeDocument/2006/relationships" r:id="R95fca1c02b334b14"/>
  </p:notesMasterIdLst>
  <p:sldIdLst>
    <p:sldId xmlns:r="http://schemas.openxmlformats.org/officeDocument/2006/relationships" id="256" r:id="R8e0f7dcc70a94d0f"/>
    <p:sldId xmlns:r="http://schemas.openxmlformats.org/officeDocument/2006/relationships" id="257" r:id="Re04445c3434a4c2f"/>
    <p:sldId xmlns:r="http://schemas.openxmlformats.org/officeDocument/2006/relationships" id="258" r:id="R6e2793623bc24785"/>
    <p:sldId xmlns:r="http://schemas.openxmlformats.org/officeDocument/2006/relationships" id="259" r:id="Rd61585e9766143ac"/>
    <p:sldId xmlns:r="http://schemas.openxmlformats.org/officeDocument/2006/relationships" id="260" r:id="Re9cf0d57205a41f3"/>
    <p:sldId xmlns:r="http://schemas.openxmlformats.org/officeDocument/2006/relationships" id="261" r:id="R19fee19cf22d4e15"/>
    <p:sldId xmlns:r="http://schemas.openxmlformats.org/officeDocument/2006/relationships" id="262" r:id="R8962f41d404847d1"/>
    <p:sldId xmlns:r="http://schemas.openxmlformats.org/officeDocument/2006/relationships" id="263" r:id="R5e0d191c1441443f"/>
    <p:sldId xmlns:r="http://schemas.openxmlformats.org/officeDocument/2006/relationships" id="264" r:id="R9cd6aa8430724811"/>
    <p:sldId xmlns:r="http://schemas.openxmlformats.org/officeDocument/2006/relationships" id="265" r:id="Rc2d51d988d1947b1"/>
    <p:sldId xmlns:r="http://schemas.openxmlformats.org/officeDocument/2006/relationships" id="266" r:id="Rd867e5d8fdd243fb"/>
    <p:sldId xmlns:r="http://schemas.openxmlformats.org/officeDocument/2006/relationships" id="267" r:id="R901375d30ec64288"/>
    <p:sldId xmlns:r="http://schemas.openxmlformats.org/officeDocument/2006/relationships" id="268" r:id="R3bbd057019224d2e"/>
    <p:sldId xmlns:r="http://schemas.openxmlformats.org/officeDocument/2006/relationships" id="269" r:id="R528c54815adb4b4c"/>
    <p:sldId xmlns:r="http://schemas.openxmlformats.org/officeDocument/2006/relationships" id="270" r:id="R54db801b81bf4d5f"/>
    <p:sldId xmlns:r="http://schemas.openxmlformats.org/officeDocument/2006/relationships" id="271" r:id="Rba1fb1ab20bc482a"/>
    <p:sldId xmlns:r="http://schemas.openxmlformats.org/officeDocument/2006/relationships" id="272" r:id="Rd011c83107c840b6"/>
    <p:sldId xmlns:r="http://schemas.openxmlformats.org/officeDocument/2006/relationships" id="273" r:id="R71ead25efc314200"/>
    <p:sldId xmlns:r="http://schemas.openxmlformats.org/officeDocument/2006/relationships" id="274" r:id="R961776b67ebb4816"/>
    <p:sldId xmlns:r="http://schemas.openxmlformats.org/officeDocument/2006/relationships" id="275" r:id="R44a311c1f5f748f1"/>
    <p:sldId xmlns:r="http://schemas.openxmlformats.org/officeDocument/2006/relationships" id="276" r:id="R258afdd9b1f64e2a"/>
    <p:sldId xmlns:r="http://schemas.openxmlformats.org/officeDocument/2006/relationships" id="277" r:id="R5c81aac26cb549c3"/>
    <p:sldId xmlns:r="http://schemas.openxmlformats.org/officeDocument/2006/relationships" id="278" r:id="R147c3ca1065648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6b0579b1dd471f" /><Relationship Type="http://schemas.openxmlformats.org/officeDocument/2006/relationships/slideMaster" Target="/ppt/slideMasters/slideMaster1.xml" Id="R713712bd6759430e" /><Relationship Type="http://schemas.openxmlformats.org/officeDocument/2006/relationships/notesMaster" Target="/ppt/notesMasters/notesMaster1.xml" Id="R95fca1c02b334b14" /><Relationship Type="http://schemas.openxmlformats.org/officeDocument/2006/relationships/presProps" Target="/ppt/presProps.xml" Id="R8b6f93ad982c4cf7" /><Relationship Type="http://schemas.openxmlformats.org/officeDocument/2006/relationships/tableStyles" Target="/ppt/tableStyles.xml" Id="R545bf83a47564d9b" /><Relationship Type="http://schemas.openxmlformats.org/officeDocument/2006/relationships/slide" Target="/ppt/slides/slide1.xml" Id="R8e0f7dcc70a94d0f" /><Relationship Type="http://schemas.openxmlformats.org/officeDocument/2006/relationships/slide" Target="/ppt/slides/slide2.xml" Id="Re04445c3434a4c2f" /><Relationship Type="http://schemas.openxmlformats.org/officeDocument/2006/relationships/slide" Target="/ppt/slides/slide3.xml" Id="R6e2793623bc24785" /><Relationship Type="http://schemas.openxmlformats.org/officeDocument/2006/relationships/slide" Target="/ppt/slides/slide4.xml" Id="Rd61585e9766143ac" /><Relationship Type="http://schemas.openxmlformats.org/officeDocument/2006/relationships/slide" Target="/ppt/slides/slide5.xml" Id="Re9cf0d57205a41f3" /><Relationship Type="http://schemas.openxmlformats.org/officeDocument/2006/relationships/slide" Target="/ppt/slides/slide6.xml" Id="R19fee19cf22d4e15" /><Relationship Type="http://schemas.openxmlformats.org/officeDocument/2006/relationships/slide" Target="/ppt/slides/slide7.xml" Id="R8962f41d404847d1" /><Relationship Type="http://schemas.openxmlformats.org/officeDocument/2006/relationships/slide" Target="/ppt/slides/slide8.xml" Id="R5e0d191c1441443f" /><Relationship Type="http://schemas.openxmlformats.org/officeDocument/2006/relationships/slide" Target="/ppt/slides/slide9.xml" Id="R9cd6aa8430724811" /><Relationship Type="http://schemas.openxmlformats.org/officeDocument/2006/relationships/slide" Target="/ppt/slides/slide10.xml" Id="Rc2d51d988d1947b1" /><Relationship Type="http://schemas.openxmlformats.org/officeDocument/2006/relationships/slide" Target="/ppt/slides/slide11.xml" Id="Rd867e5d8fdd243fb" /><Relationship Type="http://schemas.openxmlformats.org/officeDocument/2006/relationships/slide" Target="/ppt/slides/slide12.xml" Id="R901375d30ec64288" /><Relationship Type="http://schemas.openxmlformats.org/officeDocument/2006/relationships/slide" Target="/ppt/slides/slide13.xml" Id="R3bbd057019224d2e" /><Relationship Type="http://schemas.openxmlformats.org/officeDocument/2006/relationships/slide" Target="/ppt/slides/slide14.xml" Id="R528c54815adb4b4c" /><Relationship Type="http://schemas.openxmlformats.org/officeDocument/2006/relationships/slide" Target="/ppt/slides/slide15.xml" Id="R54db801b81bf4d5f" /><Relationship Type="http://schemas.openxmlformats.org/officeDocument/2006/relationships/slide" Target="/ppt/slides/slide16.xml" Id="Rba1fb1ab20bc482a" /><Relationship Type="http://schemas.openxmlformats.org/officeDocument/2006/relationships/slide" Target="/ppt/slides/slide17.xml" Id="Rd011c83107c840b6" /><Relationship Type="http://schemas.openxmlformats.org/officeDocument/2006/relationships/slide" Target="/ppt/slides/slide18.xml" Id="R71ead25efc314200" /><Relationship Type="http://schemas.openxmlformats.org/officeDocument/2006/relationships/slide" Target="/ppt/slides/slide19.xml" Id="R961776b67ebb4816" /><Relationship Type="http://schemas.openxmlformats.org/officeDocument/2006/relationships/slide" Target="/ppt/slides/slide20.xml" Id="R44a311c1f5f748f1" /><Relationship Type="http://schemas.openxmlformats.org/officeDocument/2006/relationships/slide" Target="/ppt/slides/slide21.xml" Id="R258afdd9b1f64e2a" /><Relationship Type="http://schemas.openxmlformats.org/officeDocument/2006/relationships/slide" Target="/ppt/slides/slide22.xml" Id="R5c81aac26cb549c3" /><Relationship Type="http://schemas.openxmlformats.org/officeDocument/2006/relationships/slide" Target="/ppt/slides/slide23.xml" Id="R147c3ca1065648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ebcdc7c1334d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88f2ab3a5b4e7d" /><Relationship Type="http://schemas.openxmlformats.org/officeDocument/2006/relationships/notesMaster" Target="/ppt/notesMasters/notesMaster1.xml" Id="Rd18f4c42d06c48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71044c2b39435a" /><Relationship Type="http://schemas.openxmlformats.org/officeDocument/2006/relationships/notesMaster" Target="/ppt/notesMasters/notesMaster1.xml" Id="R30b58ae2e38a4c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9b24a9bdd841a4" /><Relationship Type="http://schemas.openxmlformats.org/officeDocument/2006/relationships/notesMaster" Target="/ppt/notesMasters/notesMaster1.xml" Id="R9047ff61dbfa49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e1a47ef8844479" /><Relationship Type="http://schemas.openxmlformats.org/officeDocument/2006/relationships/notesMaster" Target="/ppt/notesMasters/notesMaster1.xml" Id="Rfa732660fad848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8275f1b2b14834" /><Relationship Type="http://schemas.openxmlformats.org/officeDocument/2006/relationships/notesMaster" Target="/ppt/notesMasters/notesMaster1.xml" Id="R256e9b22158647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3df76e3b214bcf" /><Relationship Type="http://schemas.openxmlformats.org/officeDocument/2006/relationships/notesMaster" Target="/ppt/notesMasters/notesMaster1.xml" Id="R6541e695389f4e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fca181e5084595" /><Relationship Type="http://schemas.openxmlformats.org/officeDocument/2006/relationships/notesMaster" Target="/ppt/notesMasters/notesMaster1.xml" Id="Rd1b5fc39eb4345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a7aa9f72d54310" /><Relationship Type="http://schemas.openxmlformats.org/officeDocument/2006/relationships/notesMaster" Target="/ppt/notesMasters/notesMaster1.xml" Id="R52849f08b5a84d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be9727ba604c59" /><Relationship Type="http://schemas.openxmlformats.org/officeDocument/2006/relationships/notesMaster" Target="/ppt/notesMasters/notesMaster1.xml" Id="R2e5efe26e40f42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eeed83c89f4254" /><Relationship Type="http://schemas.openxmlformats.org/officeDocument/2006/relationships/notesMaster" Target="/ppt/notesMasters/notesMaster1.xml" Id="Rd1556786ab5347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da8a4154fe4ac2" /><Relationship Type="http://schemas.openxmlformats.org/officeDocument/2006/relationships/notesMaster" Target="/ppt/notesMasters/notesMaster1.xml" Id="R8b8338ecc0c440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179b7cef224ab0" /><Relationship Type="http://schemas.openxmlformats.org/officeDocument/2006/relationships/notesMaster" Target="/ppt/notesMasters/notesMaster1.xml" Id="R1dcdd09d7aa044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c66196c2574c09" /><Relationship Type="http://schemas.openxmlformats.org/officeDocument/2006/relationships/notesMaster" Target="/ppt/notesMasters/notesMaster1.xml" Id="R3f8fa233a8ca44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ff10118aec4552" /><Relationship Type="http://schemas.openxmlformats.org/officeDocument/2006/relationships/notesMaster" Target="/ppt/notesMasters/notesMaster1.xml" Id="Rd37eb7f2156b45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e9c842ffa04ded" /><Relationship Type="http://schemas.openxmlformats.org/officeDocument/2006/relationships/notesMaster" Target="/ppt/notesMasters/notesMaster1.xml" Id="R99f41faaf4ac44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63d5040fa44bf1" /><Relationship Type="http://schemas.openxmlformats.org/officeDocument/2006/relationships/notesMaster" Target="/ppt/notesMasters/notesMaster1.xml" Id="Rde7916a227cb45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3aaaf2f4e54554" /><Relationship Type="http://schemas.openxmlformats.org/officeDocument/2006/relationships/notesMaster" Target="/ppt/notesMasters/notesMaster1.xml" Id="R57388217b0f4447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64408d473b4080" /><Relationship Type="http://schemas.openxmlformats.org/officeDocument/2006/relationships/notesMaster" Target="/ppt/notesMasters/notesMaster1.xml" Id="R793f95ccf4fa4c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817ea654ecc4593" /><Relationship Type="http://schemas.openxmlformats.org/officeDocument/2006/relationships/notesMaster" Target="/ppt/notesMasters/notesMaster1.xml" Id="R358fdd455936452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15e1f19d24843a2" /><Relationship Type="http://schemas.openxmlformats.org/officeDocument/2006/relationships/notesMaster" Target="/ppt/notesMasters/notesMaster1.xml" Id="Rc4e2f8abf6e941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d2c02dbaa7746fd" /><Relationship Type="http://schemas.openxmlformats.org/officeDocument/2006/relationships/notesMaster" Target="/ppt/notesMasters/notesMaster1.xml" Id="R1685b8ce0874452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cc6a447f3d4431c" /><Relationship Type="http://schemas.openxmlformats.org/officeDocument/2006/relationships/notesMaster" Target="/ppt/notesMasters/notesMaster1.xml" Id="R9e2bf0adadeb42c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537d411936549d8" /><Relationship Type="http://schemas.openxmlformats.org/officeDocument/2006/relationships/notesMaster" Target="/ppt/notesMasters/notesMaster1.xml" Id="Rc87396a216a446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Mutassuk meg először a három elkülönült telephelyet, majd az ISP-szegmens és az ASA tűzfalak szerepét.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RapidRoute-Logistic-Network.pkt — feltöltött Packet Tracer projektfájl</a:t>
            </a:r>
          </a:p>
          <a:p xmlns:a="http://schemas.openxmlformats.org/drawingml/2006/main">
            <a:r>
              <a:t>- image (17)(2).webp — a projektből származó topológia-export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darabszámok a látható topológiai eszközökből készültek. Az automatizálási script hét menedzselt hálózati eszközt nevez meg.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RapidRoute-Logistic-Network.pkt — feltöltött Packet Tracer projektfájl</a:t>
            </a:r>
          </a:p>
          <a:p xmlns:a="http://schemas.openxmlformats.org/drawingml/2006/main">
            <a:r>
              <a:t>- image (17)(2).webp — topológia-export és eszközfeliratok</a:t>
            </a:r>
          </a:p>
          <a:p xmlns:a="http://schemas.openxmlformats.org/drawingml/2006/main">
            <a:r>
              <a:t>- RapidRoute-Netmiko/rapidroute_netmiko.py — menedzselt routerek és multilayer switchek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hálózati funkciókat összefoglaló dia után tételes bizonyítékok következnek. Az IPv6-ra jelenleg nincs egyértelmű végponttól végpontig tesztkép.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RapidRoute-Logistic-Network.pkt — hálózati modell</a:t>
            </a:r>
          </a:p>
          <a:p xmlns:a="http://schemas.openxmlformats.org/drawingml/2006/main">
            <a:r>
              <a:t>- rapidroute project összes kép.zip — Packet Tracer és hálózati bizonyítékok</a:t>
            </a:r>
          </a:p>
          <a:p xmlns:a="http://schemas.openxmlformats.org/drawingml/2006/main">
            <a:r>
              <a:t>- A felhasználó által megadott vizsgakövetelmények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kimenet közvetlenül igazolja a trunk módot, a 802.1Q beágyazást és az aktív VLAN-listát. A külön show vlan brief képek a budapesti és debreceni VLAN-neveket is felsorolják.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rapidroute project összes kép.zip/Roli/image (17).webp — show interfaces trunk</a:t>
            </a:r>
          </a:p>
          <a:p xmlns:a="http://schemas.openxmlformats.org/drawingml/2006/main">
            <a:r>
              <a:t>- rapidroute project összes kép.zip/Roli/image (8).webp — budapesti show vlan brief</a:t>
            </a:r>
          </a:p>
          <a:p xmlns:a="http://schemas.openxmlformats.org/drawingml/2006/main">
            <a:r>
              <a:t>- rapidroute project összes kép.zip/08.25/image (5).webp — debreceni show vlan brief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Az Alternate BLK állapot bizonyítja, hogy az STP feloldja a hurkot, miközben a redundáns kábel fizikailag megmarad.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rapidroute project összes kép.zip/Roli/image (20).webp — STP portszerepek és BLK állapot</a:t>
            </a:r>
          </a:p>
          <a:p xmlns:a="http://schemas.openxmlformats.org/drawingml/2006/main">
            <a:r>
              <a:t>- rapidroute project összes kép.zip/Roli/image (23).webp — root bridge ellenőrzés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Az aktív HSRP-állapot és a virtuális átjáró elérhetősége igazolt. A rendelkezésre álló kiesési próba 100% csomagvesztést mutatott, ezért a sikeres failovert nem állítjuk késznek.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rapidroute project összes kép.zip/Roli/image (25).webp — HSRP konfiguráció és Active állapot</a:t>
            </a:r>
          </a:p>
          <a:p xmlns:a="http://schemas.openxmlformats.org/drawingml/2006/main">
            <a:r>
              <a:t>- rapidroute project összes kép.zip/Roli/image (27).webp — 4/4 ping a 10.10.20.1 virtuális átjáróra</a:t>
            </a:r>
          </a:p>
          <a:p xmlns:a="http://schemas.openxmlformats.org/drawingml/2006/main">
            <a:r>
              <a:t>- rapidroute project összes kép.zip/Roli/image (29).webp — sikertelen kiesési próba, javítandó bizonyíték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dia külön kezeli az OSPF konfigurációs bizonyítékot és a tranzitlink működési tesztjét. Show ip ospf neighbor kimenet nem található a képek között.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rapidroute project összes kép.zip/08.25/image (15).webp — OSPF process és network parancsok</a:t>
            </a:r>
          </a:p>
          <a:p xmlns:a="http://schemas.openxmlformats.org/drawingml/2006/main">
            <a:r>
              <a:t>- rapidroute project összes kép.zip/08.25/image (14).webp — 5/5 ping a 10.20.254.2 címre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szerveroldali DHCP-beállítások egy képen áttekinthetők. Az élő vizsgán egy kliens ipconfig vagy DHCP-kérés egészítheti ki a bizonyítást.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rapidroute project összes kép.zip/08.25/image (16).webp — DHCP szolgáltatás és poollista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statikus NAT-hoz futó xlate bejegyzés tartozik. A dinamikus PAT parancsa látható, de a hozzá tartozó kliensforgalmi teszt nincs dokumentálva.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rapidroute project összes kép.zip/Laca/Kepernyokep_2026-08-28_160221.png — ASA ACL és hit counterek</a:t>
            </a:r>
          </a:p>
          <a:p xmlns:a="http://schemas.openxmlformats.org/drawingml/2006/main">
            <a:r>
              <a:t>- rapidroute project összes kép.zip/Laca/Kepernyokep_2026-08-28_190802.png — aktív static xlate</a:t>
            </a:r>
          </a:p>
          <a:p xmlns:a="http://schemas.openxmlformats.org/drawingml/2006/main">
            <a:r>
              <a:t>- rapidroute project összes kép.zip/Laca/Kepernyokep_2026-08-28_162016.png — dinamikus PAT konfiguráció</a:t>
            </a:r>
          </a:p>
          <a:p xmlns:a="http://schemas.openxmlformats.org/drawingml/2006/main">
            <a:r>
              <a:t>- rapidroute project összes kép.zip/Laca/Kepernyokep_2026-08-28_160233.png — 100% ping a statikus NAT külső címére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dia kizárólag a VPN konfiguráció elkészültét állítja. A forrásképet úgy vágtuk, hogy a megosztott kulcs ne jelenjen meg. Show crypto vagy titkosított ping kimenet nem található.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rapidroute project összes kép.zip/Laca/Kepernyokep_2026-08-28_151039.png — ASA-BUD VPN-konfiguráció, a kulcssorok kizárva</a:t>
            </a:r>
          </a:p>
          <a:p xmlns:a="http://schemas.openxmlformats.org/drawingml/2006/main">
            <a:r>
              <a:t>- rapidroute project összes kép.zip/Laca/Kepernyokep_2026-08-28_151051.png — ASA-DEB-01 VPN-konfiguráció</a:t>
            </a:r>
          </a:p>
          <a:p xmlns:a="http://schemas.openxmlformats.org/drawingml/2006/main">
            <a:r>
              <a:t>- rapidroute project összes kép.zip/Laca/Kepernyokep_2026-08-28_151100.png — ASA-DEB-02 VPN-konfiguráció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Python/Netmiko forráskód hét eszközt kezel, lekérdezést és konfigurációküldést végez, menti a startup-configot és fájlba archiválja a running-configot. Futási képernyőkép nem található a projektképek között.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RapidRoute-Netmiko/rapidroute_netmiko.py — teljes automatizálási script</a:t>
            </a:r>
          </a:p>
          <a:p xmlns:a="http://schemas.openxmlformats.org/drawingml/2006/main">
            <a:r>
              <a:t>- RapidRoute-Netmiko/netmiko_test.py — egyeszközös SSH-kapcsolati teszt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négy virtuális gépet szerep és IP-cím szerint mutassuk be. A kliens nem önálló sziget: mindhárom kiszolgálót ellenőrzi.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RapidRoute projektáttekintés</a:t>
            </a:r>
          </a:p>
          <a:p xmlns:a="http://schemas.openxmlformats.org/drawingml/2006/main">
            <a:r>
              <a:t>- docs/RR-DC01/RR-DC01_dokumentacio.md</a:t>
            </a:r>
          </a:p>
          <a:p xmlns:a="http://schemas.openxmlformats.org/drawingml/2006/main">
            <a:r>
              <a:t>- docs/RR-FS01/RR-FS01_dokumentacio.md</a:t>
            </a:r>
          </a:p>
          <a:p xmlns:a="http://schemas.openxmlformats.org/drawingml/2006/main">
            <a:r>
              <a:t>- docs/RR-WEB01/RR-WEB01_dokumentacio.md</a:t>
            </a:r>
          </a:p>
          <a:p xmlns:a="http://schemas.openxmlformats.org/drawingml/2006/main">
            <a:r>
              <a:t>- docs/RR-CLIENT01/RR-CLIENT01_dokumentacio.md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Emeljük ki, hogy az AD, DNS és GPO nem csak telepítve van: a kliensről ellenőriztük a tagságot és a házirendeket.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docs/RR-DC01/RR-DC01_dokumentacio.md</a:t>
            </a:r>
          </a:p>
          <a:p xmlns:a="http://schemas.openxmlformats.org/drawingml/2006/main">
            <a:r>
              <a:t>- Képernyőkép 2026-09-05 103115.png — gpresult és GPO-beállítások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pozitív és negatív jogosultságtesztet együtt mutassuk: a budapesti írás engedélyezett, a két debreceni elérés tiltott.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docs/RR-FS01/RR-FS01_dokumentacio.md</a:t>
            </a:r>
          </a:p>
          <a:p xmlns:a="http://schemas.openxmlformats.org/drawingml/2006/main">
            <a:r>
              <a:t>- Képernyőkép 2026-09-05 103322.png — megosztási jogosultságok ellenőrzése</a:t>
            </a:r>
          </a:p>
          <a:p xmlns:a="http://schemas.openxmlformats.org/drawingml/2006/main">
            <a:r>
              <a:t>- Képernyőkép 2026-09-05 103620.png — megosztott nyomtató ellenőrzése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Hangsúlyozzuk, hogy a tanúsítvány nyilvános része került a kliens megbízható gyökértárába; a privát kulcs nem hagyta el a szervert.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configs/RR-WEB01/README.md</a:t>
            </a:r>
          </a:p>
          <a:p xmlns:a="http://schemas.openxmlformats.org/drawingml/2006/main">
            <a:r>
              <a:t>- docs/RR-WEB01/RR-WEB01_dokumentacio.md</a:t>
            </a:r>
          </a:p>
          <a:p xmlns:a="http://schemas.openxmlformats.org/drawingml/2006/main">
            <a:r>
              <a:t>- docs/RR-WEB01/screenshots/22_RR-WEB01_RapidRoute_sajat_weboldal.png — a működő RapidRoute Infrastructure Portal</a:t>
            </a:r>
          </a:p>
          <a:p xmlns:a="http://schemas.openxmlformats.org/drawingml/2006/main">
            <a:r>
              <a:t>- Képernyőkép 2026-09-05 110315.png — tanúsítvány és HTTPS 200 válasz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Ez a kulcsdia: a kliens egyetlen, csak olvasó tesztfuttatással bizonyítja a tartományi, GPO-, fájl-, nyomtató-, DNS-, HTTP- és HTTPS-funkciókat.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docs/RR-CLIENT01/RR-CLIENT01_dokumentacio.md</a:t>
            </a:r>
          </a:p>
          <a:p xmlns:a="http://schemas.openxmlformats.org/drawingml/2006/main">
            <a:r>
              <a:t>- scripts/RR-CLIENT01/rr-client01-validation.ps1</a:t>
            </a:r>
          </a:p>
          <a:p xmlns:a="http://schemas.openxmlformats.org/drawingml/2006/main">
            <a:r>
              <a:t>- Képernyőkép 2026-09-05 112848.png — végső 25 PASS / 0 FAIL eredmény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felelősségek a projektképek mappanevei, a repository tartalma és a felhasználó által megadott feladatmegosztás alapján szerepelnek.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rapidroute project összes kép.zip — Laca, Roli és Szabi bizonyítékmappák</a:t>
            </a:r>
          </a:p>
          <a:p xmlns:a="http://schemas.openxmlformats.org/drawingml/2006/main">
            <a:r>
              <a:t>- RapidRoute GitHub-repository — dokumentáció, konfigurációk és scriptek</a:t>
            </a:r>
          </a:p>
          <a:p xmlns:a="http://schemas.openxmlformats.org/drawingml/2006/main">
            <a:r>
              <a:t>- A felhasználó által megadott feladatmegosztás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vizsgán öt rövid élő próbát érdemes rögzíteni: HSRP failover, IPv6 végponti ping, dinamikus PAT-forgalom, VPN tunnel/forgalom és a Netmiko-script sikeres teljes futása.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 felhasználó által megadott vizsgakövetelmények</a:t>
            </a:r>
          </a:p>
          <a:p xmlns:a="http://schemas.openxmlformats.org/drawingml/2006/main">
            <a:r>
              <a:t>- rapidroute project összes kép.zip — tételesen átvizsgált hálózati bizonyítékok</a:t>
            </a:r>
          </a:p>
          <a:p xmlns:a="http://schemas.openxmlformats.org/drawingml/2006/main">
            <a:r>
              <a:t>- RR-CLIENT01 végső validáció — 25 PASS, 0 FAIL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zárás a teljes projektet foglalja össze: három telephelyes hálózati modell, négygépes szerverlabor és részletes bizonyítéktár. Az öt rövid élő próba a vizsgabemutató utolsó feladata.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RapidRoute projektfájlok és naprakész dokumentáció</a:t>
            </a:r>
          </a:p>
          <a:p xmlns:a="http://schemas.openxmlformats.org/drawingml/2006/main">
            <a:r>
              <a:t>- rapidroute project összes kép.zip — hálózati bizonyítékok</a:t>
            </a:r>
          </a:p>
          <a:p xmlns:a="http://schemas.openxmlformats.org/drawingml/2006/main">
            <a:r>
              <a:t>- RR-CLIENT01 végső validáció — 25 PASS, 0 FAIL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f3409f64564d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36ccc415214cf0" /><Relationship Type="http://schemas.openxmlformats.org/officeDocument/2006/relationships/slideLayout" Target="/ppt/slideLayouts/slideLayout1.xml" Id="R593d615f5e2d49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3d615f5e2d49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7658626af42d5" /><Relationship Type="http://schemas.openxmlformats.org/officeDocument/2006/relationships/image" Target="/ppt/media/image.png" Id="R001190f0fae149a3" /><Relationship Type="http://schemas.openxmlformats.org/officeDocument/2006/relationships/notesSlide" Target="/ppt/notesSlides/notesSlide1.xml" Id="Ra86a7497614644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f3d68e81b485c" /><Relationship Type="http://schemas.openxmlformats.org/officeDocument/2006/relationships/image" Target="/ppt/media/image2.png" Id="R547964c314944eca" /><Relationship Type="http://schemas.openxmlformats.org/officeDocument/2006/relationships/notesSlide" Target="/ppt/notesSlides/notesSlide2.xml" Id="R2416be3e944346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9ebbfb6a84409" /><Relationship Type="http://schemas.openxmlformats.org/officeDocument/2006/relationships/notesSlide" Target="/ppt/notesSlides/notesSlide3.xml" Id="R0b836207edaa4e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89580cc6c416c" /><Relationship Type="http://schemas.openxmlformats.org/officeDocument/2006/relationships/notesSlide" Target="/ppt/notesSlides/notesSlide4.xml" Id="R83ca12ca7a0c42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127fa866c42b8" /><Relationship Type="http://schemas.openxmlformats.org/officeDocument/2006/relationships/image" Target="/ppt/media/image3.png" Id="Rb96aba9277694b99" /><Relationship Type="http://schemas.openxmlformats.org/officeDocument/2006/relationships/notesSlide" Target="/ppt/notesSlides/notesSlide5.xml" Id="Rfd9253caaa7c4f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90dd3d23d4ada" /><Relationship Type="http://schemas.openxmlformats.org/officeDocument/2006/relationships/notesSlide" Target="/ppt/notesSlides/notesSlide6.xml" Id="R7e3e5433f56e48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d99470c874780" /><Relationship Type="http://schemas.openxmlformats.org/officeDocument/2006/relationships/notesSlide" Target="/ppt/notesSlides/notesSlide7.xml" Id="R266757b6a63f4c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24c246edf491d" /><Relationship Type="http://schemas.openxmlformats.org/officeDocument/2006/relationships/image" Target="/ppt/media/image4.png" Id="Re8427b0480394b39" /><Relationship Type="http://schemas.openxmlformats.org/officeDocument/2006/relationships/notesSlide" Target="/ppt/notesSlides/notesSlide8.xml" Id="R6a710c9bb0054a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7d28363774bff" /><Relationship Type="http://schemas.openxmlformats.org/officeDocument/2006/relationships/image" Target="/ppt/media/image5.png" Id="R3b7b63ba6d7a430a" /><Relationship Type="http://schemas.openxmlformats.org/officeDocument/2006/relationships/notesSlide" Target="/ppt/notesSlides/notesSlide9.xml" Id="R36af35ec55e248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f066774494112" /><Relationship Type="http://schemas.openxmlformats.org/officeDocument/2006/relationships/image" Target="/ppt/media/image6.png" Id="R331947d36088453a" /><Relationship Type="http://schemas.openxmlformats.org/officeDocument/2006/relationships/notesSlide" Target="/ppt/notesSlides/notesSlide10.xml" Id="R90e9c348f9594f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9de65daa9430a" /><Relationship Type="http://schemas.openxmlformats.org/officeDocument/2006/relationships/image" Target="/ppt/media/image7.png" Id="R114f819ae33247e1" /><Relationship Type="http://schemas.openxmlformats.org/officeDocument/2006/relationships/notesSlide" Target="/ppt/notesSlides/notesSlide11.xml" Id="Re45ee9287bbb4f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4c27c63b64aeb" /><Relationship Type="http://schemas.openxmlformats.org/officeDocument/2006/relationships/image" Target="/ppt/media/image8.png" Id="Rf92f331678b04bec" /><Relationship Type="http://schemas.openxmlformats.org/officeDocument/2006/relationships/notesSlide" Target="/ppt/notesSlides/notesSlide12.xml" Id="Rf8608dcf2a1849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a8294e30d4dbc" /><Relationship Type="http://schemas.openxmlformats.org/officeDocument/2006/relationships/image" Target="/ppt/media/image9.png" Id="Rc18f107067214fc3" /><Relationship Type="http://schemas.openxmlformats.org/officeDocument/2006/relationships/notesSlide" Target="/ppt/notesSlides/notesSlide13.xml" Id="Rfa4d5af9f5c442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e8e8c4c2448a0" /><Relationship Type="http://schemas.openxmlformats.org/officeDocument/2006/relationships/image" Target="/ppt/media/image10.png" Id="R4c777a58c7374d03" /><Relationship Type="http://schemas.openxmlformats.org/officeDocument/2006/relationships/notesSlide" Target="/ppt/notesSlides/notesSlide14.xml" Id="R61093c23c88940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7cd825df14813" /><Relationship Type="http://schemas.openxmlformats.org/officeDocument/2006/relationships/notesSlide" Target="/ppt/notesSlides/notesSlide15.xml" Id="Raed5e81d4abc47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d06e685924898" /><Relationship Type="http://schemas.openxmlformats.org/officeDocument/2006/relationships/notesSlide" Target="/ppt/notesSlides/notesSlide16.xml" Id="Rc1069cde1b9649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092054aa24105" /><Relationship Type="http://schemas.openxmlformats.org/officeDocument/2006/relationships/image" Target="/ppt/media/image11.png" Id="Rfa349720ab194610" /><Relationship Type="http://schemas.openxmlformats.org/officeDocument/2006/relationships/notesSlide" Target="/ppt/notesSlides/notesSlide17.xml" Id="R71894b7f11b146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0a574b43b497f" /><Relationship Type="http://schemas.openxmlformats.org/officeDocument/2006/relationships/image" Target="/ppt/media/image12.png" Id="Rd4c54b610ea34d0a" /><Relationship Type="http://schemas.openxmlformats.org/officeDocument/2006/relationships/notesSlide" Target="/ppt/notesSlides/notesSlide18.xml" Id="Rff0c4ba9aed041d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d134131ca428d" /><Relationship Type="http://schemas.openxmlformats.org/officeDocument/2006/relationships/image" Target="/ppt/media/image13.png" Id="R5d555ad2b0b346ab" /><Relationship Type="http://schemas.openxmlformats.org/officeDocument/2006/relationships/notesSlide" Target="/ppt/notesSlides/notesSlide19.xml" Id="Rb728674f553642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7485b4aea4a36" /><Relationship Type="http://schemas.openxmlformats.org/officeDocument/2006/relationships/image" Target="/ppt/media/image14.png" Id="R29beac7ec5d34644" /><Relationship Type="http://schemas.openxmlformats.org/officeDocument/2006/relationships/notesSlide" Target="/ppt/notesSlides/notesSlide20.xml" Id="R3a47bae8f20649a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16701dd6a4250" /><Relationship Type="http://schemas.openxmlformats.org/officeDocument/2006/relationships/notesSlide" Target="/ppt/notesSlides/notesSlide21.xml" Id="R1439a4fe6b7043f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d6139e7b34099" /><Relationship Type="http://schemas.openxmlformats.org/officeDocument/2006/relationships/notesSlide" Target="/ppt/notesSlides/notesSlide22.xml" Id="R4d300aab61024ce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dead1a93041b3" /><Relationship Type="http://schemas.openxmlformats.org/officeDocument/2006/relationships/image" Target="/ppt/media/image.png" Id="Rb62c4ad525134292" /><Relationship Type="http://schemas.openxmlformats.org/officeDocument/2006/relationships/notesSlide" Target="/ppt/notesSlides/notesSlide23.xml" Id="Rb6f20517720846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C3403-DFE0-42C4-AF29-66E3EDD8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DB35E-4925-43C5-95EF-570380A8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5CE93-D733-43F6-B850-AF5A2227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838200"/>
            <a:ext cx="4953000" cy="518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190f0fae149a3"/>
          <a:stretch xmlns:a="http://schemas.openxmlformats.org/drawingml/2006/main"/>
        </p:blipFill>
        <p:spPr>
          <a:xfrm xmlns:a="http://schemas.openxmlformats.org/drawingml/2006/main">
            <a:off x="6953250" y="2218518"/>
            <a:ext cx="4191000" cy="156371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AA238-931D-47ED-A69C-BACBE835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A9D6"/>
                </a:solidFill>
              </a:defRPr>
            </a:pPr>
            <a:r>
              <a:rPr sz="1200" b="1">
                <a:solidFill>
                  <a:srgbClr val="00A9D6"/>
                </a:solidFill>
              </a:rPr>
              <a:t>SZAKMAI PROJEKTMUNKA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C0DC2-1ECF-4605-8F6D-00350A37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429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Biztonságos és</a:t>
            </a:r>
          </a:p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redundáns vállalati</a:t>
            </a:r>
          </a:p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hálózat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1EFF3-F5C4-4AEF-A883-76CCED88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C6E5"/>
                </a:solidFill>
              </a:defRPr>
            </a:pPr>
            <a:r>
              <a:rPr sz="1500" b="0">
                <a:solidFill>
                  <a:srgbClr val="A9C6E5"/>
                </a:solidFill>
              </a:rPr>
              <a:t>Három telephely • Két város • Egy összekapcsolt rendszer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4A025-37D2-4FCB-B74D-6D5DFFD7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94543-6F95-4143-95DE-5D9E4182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Készítette: Gomba László • Kun Roland Béla • Szénás Szabolcs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2A093-9D22-434D-960E-23B6CC1B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9C6E5"/>
                </a:solidFill>
              </a:defRPr>
            </a:pPr>
            <a:r>
              <a:rPr sz="1050" b="1">
                <a:solidFill>
                  <a:srgbClr val="A9C6E5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0481719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DBC05-DBD5-4459-A597-D78CFAA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BC088-21AE-4134-A874-CF874689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A VÁLLALAT BEMUTATÁSA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D84DB-57B4-4983-8C79-8708EF4A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1B3A"/>
                </a:solidFill>
              </a:defRPr>
            </a:pPr>
            <a:r>
              <a:rPr sz="2700" b="1">
                <a:solidFill>
                  <a:srgbClr val="061B3A"/>
                </a:solidFill>
              </a:rPr>
              <a:t>A logisztika folyamatos adatkapcsolatra épül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A0413-2BBD-4EA2-9910-7A8F4D5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059DF-5AB2-4455-AF67-DF35CA5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"/>
            <a:ext cx="2409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RAPIDROUTE LOGISTICS KFT.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B51B8-2894-4FDD-9EF9-6F9AA8A8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28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33E"/>
                </a:solidFill>
              </a:defRPr>
            </a:pPr>
            <a:r>
              <a:rPr sz="1725" b="1">
                <a:solidFill>
                  <a:srgbClr val="10233E"/>
                </a:solidFill>
              </a:rPr>
              <a:t>A RapidRoute Logistics Kft. raktározással, szállítmányozással és készletkezeléssel foglalkozó magyar vállalkozás.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4CFD4-DD7A-4E72-9097-3DE4FAA9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A napi működéshez a telephelyek, az irodai munkatársak, a raktári eszközök és a központi kiszolgálók biztonságos együttműködésére van szükség.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0FCC2-401D-48C6-9FDC-0DF73044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50E9A-E2E2-45DB-87B2-50909BA4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Áruk fogadása, tárolása és kiadása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B9875-181C-4EE5-ADD5-B3398CF1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767E8-75C2-45B4-AAFA-0EA1E03F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Belföldi szállítmányok szervezése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63A12-A791-43CD-AF01-79D82F1C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84FDF-B256-409B-A4B9-A96B45B2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Készlet- és rendeléskezelés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2241E-9E58-4789-AE44-1FDF471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9814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964c314944eca"/>
          <a:stretch xmlns:a="http://schemas.openxmlformats.org/drawingml/2006/main"/>
        </p:blipFill>
        <p:spPr>
          <a:xfrm xmlns:a="http://schemas.openxmlformats.org/drawingml/2006/main">
            <a:off x="8048625" y="2449521"/>
            <a:ext cx="2952750" cy="1101708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42211-2334-4CE9-A04C-2CB1180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290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 város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4D4F7-FAD0-4A18-A300-FE1394F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290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A9D6"/>
                </a:solidFill>
              </a:defRPr>
            </a:pPr>
            <a:r>
              <a:rPr sz="2025" b="1">
                <a:solidFill>
                  <a:srgbClr val="00A9D6"/>
                </a:solidFill>
              </a:rPr>
              <a:t>3 telephely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3785E-3541-43EF-91D4-49FAC16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E0E23-A90D-4172-9ADF-7E6E9A2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028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5E4F2"/>
                </a:solidFill>
              </a:defRPr>
            </a:pPr>
            <a:r>
              <a:rPr sz="1275" b="0">
                <a:solidFill>
                  <a:srgbClr val="D5E4F2"/>
                </a:solidFill>
              </a:rPr>
              <a:t>A szolgáltatásoknak gyorsan, megbízhatóan és hibatűrően kell elérhetőnek maradniuk.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94B13-8085-43F1-973A-8BC9124A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57D"/>
                </a:solidFill>
              </a:defRPr>
            </a:pPr>
            <a:r>
              <a:rPr sz="825" b="0">
                <a:solidFill>
                  <a:srgbClr val="52657D"/>
                </a:solidFill>
              </a:rPr>
              <a:t>Informatikai hálózat- és alkalmazásüzemeltető technikus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1A62F-ACDE-4D86-8120-FE88471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2657D"/>
                </a:solidFill>
              </a:defRPr>
            </a:pPr>
            <a:r>
              <a:rPr sz="825" b="1">
                <a:solidFill>
                  <a:srgbClr val="52657D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981263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458EEA-C8A6-4560-996D-F903A8DA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B7934-8D25-48E8-93BF-06FEC014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TELEPHELYEK ÉS FELADATOK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7CA26-DDBB-4A4E-8191-17ECB434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1B3A"/>
                </a:solidFill>
              </a:defRPr>
            </a:pPr>
            <a:r>
              <a:rPr sz="2700" b="1">
                <a:solidFill>
                  <a:srgbClr val="061B3A"/>
                </a:solidFill>
              </a:rPr>
              <a:t>Két városban három elkülönült telephely működik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25AC5-72FB-4D02-901C-C21BE25F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EA9D5-0346-4172-858A-D235E4CC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"/>
            <a:ext cx="2409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RAPIDROUTE LOGISTICS KFT.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5EC38-CB9B-40A0-AFE3-6693F59E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43250"/>
            <a:ext cx="666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C8F31-2010-48F0-9259-0C44B609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143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89F8D-10DF-4C9B-9C24-A46F7E5C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143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A22CD-8D29-42F7-92F3-F1F373DA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143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F33EC-A523-455C-957A-2FC74BD3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383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2E919-5014-4CDC-A668-A402BCC7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0982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HÁLÓZAT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B9997-5697-46C1-AD6C-F4824312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09875"/>
            <a:ext cx="47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B98A2-A0B2-42F3-8A0F-7B1DE659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0099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3D340-EAE8-4468-A8F0-BD943B96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B4D0D-833D-491F-AFE8-A3E326D0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E5886-36CC-49E7-9EAD-FF47BDB0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BUDAPEST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8C5EA-0D83-44FB-B673-6ADBC115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34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61B3A"/>
                </a:solidFill>
              </a:defRPr>
            </a:pPr>
            <a:r>
              <a:rPr sz="1725" b="1">
                <a:solidFill>
                  <a:srgbClr val="061B3A"/>
                </a:solidFill>
              </a:rPr>
              <a:t>Központi iroda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D6563-D37D-44FA-AD61-362BEDC0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Vállalatirányítás és IT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Központi kiszolgálók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Adminisztráció és mentések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ED48B-E773-431A-8623-CBA05767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52875"/>
            <a:ext cx="30099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272B9-FE4C-47B6-B01A-EDD14A63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52875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002A8-2679-40B3-8DAA-3FB6B95E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F151E-EFE7-4A18-86D7-D698193C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71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DEBRECEN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802E35-0020-435A-A54D-E764D05A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434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61B3A"/>
                </a:solidFill>
              </a:defRPr>
            </a:pPr>
            <a:r>
              <a:rPr sz="1725" b="1">
                <a:solidFill>
                  <a:srgbClr val="061B3A"/>
                </a:solidFill>
              </a:rPr>
              <a:t>Logisztikai központ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D787B5-A7BE-42D0-9089-8186DCE6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101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Szállítmányok szervezése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Készlet- és rendeléskezelés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Irodai és raktári hálózat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4BACCB-C5B7-47E3-BE54-1BD23184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52875"/>
            <a:ext cx="30099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527994-8F4E-40A0-A311-1B0094CC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52875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6831D2-39CD-4B66-8835-8219BE4A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719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63B78"/>
                </a:solidFill>
              </a:defRPr>
            </a:pPr>
            <a:r>
              <a:rPr sz="1125" b="1">
                <a:solidFill>
                  <a:srgbClr val="063B78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FCCC84-EBC5-44F4-A820-DC755464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DEBRECEN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3253A1-D9B6-4658-8623-22D8828B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434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61B3A"/>
                </a:solidFill>
              </a:defRPr>
            </a:pPr>
            <a:r>
              <a:rPr sz="1725" b="1">
                <a:solidFill>
                  <a:srgbClr val="061B3A"/>
                </a:solidFill>
              </a:rPr>
              <a:t>Központi depó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68C0CE-C4AD-4D4D-B3D3-08C079C1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Áruk fogadása és kiadása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Készletmozgások kezelése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57D"/>
                </a:solidFill>
              </a:defRPr>
            </a:pPr>
            <a:r>
              <a:rPr sz="1200" b="0">
                <a:solidFill>
                  <a:srgbClr val="52657D"/>
                </a:solidFill>
              </a:rPr>
              <a:t>Helyi adminisztráció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317AA7-2A7A-473D-BF2A-3B96DD5B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57D"/>
                </a:solidFill>
              </a:defRPr>
            </a:pPr>
            <a:r>
              <a:rPr sz="825" b="0">
                <a:solidFill>
                  <a:srgbClr val="52657D"/>
                </a:solidFill>
              </a:rPr>
              <a:t>Informatikai hálózat- és alkalmazásüzemeltető technikus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C398B8-E108-4762-AABC-E36E5BE7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2657D"/>
                </a:solidFill>
              </a:defRPr>
            </a:pPr>
            <a:r>
              <a:rPr sz="825" b="1">
                <a:solidFill>
                  <a:srgbClr val="52657D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585942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48422B-67E7-4F69-8BF6-0F047F45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353BD-A361-4A99-AC6C-A9458D5A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A PROJEKT CÉLJA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27863-FB23-402E-8B24-2F059145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Egy biztonságos, bővíthető és hibatűrő vállalati hálózat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20AE9-C239-4B73-9365-3E1C1987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8CCE2"/>
                </a:solidFill>
              </a:defRPr>
            </a:pPr>
            <a:r>
              <a:rPr sz="1350" b="0">
                <a:solidFill>
                  <a:srgbClr val="B8CCE2"/>
                </a:solidFill>
              </a:rPr>
              <a:t>A rendszer összekapcsolja a három telephelyet, miközben elkülöníti a felhasználói csoportokat és védi a vállalati szolgáltatásokat.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FF976-C68C-480D-8347-82401F5D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125DD-5AAA-4811-BD9E-53C71E31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B7D00-D468-4971-89B5-944238E1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ELKÜLÖNÍTÉS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89A99-4224-4527-B0E0-2C46BA95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VLAN-ok • Vendég Wi‑Fi • IoT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85801-FB86-4DE2-8212-1E23CCA9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8FB04-1B92-473F-A9F9-3C938696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494A4-4171-4D44-AE82-674D1185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FOLYAMATOSSÁG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F35BB-3759-4BDD-82DB-7565336A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STP • HSRP • redundáns utak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D7055-05C7-4352-942C-53CEC780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7B594-450F-41BE-9194-68B01117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1B1DF-25B0-409F-80B6-F550B5F2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VÉDELEM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72EB7-8367-4215-AE5C-CC0FF335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Tűzfal • ACL • NAT • VPN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65E13-50CE-469C-A215-D040FE1A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E3660-88B4-4867-911C-707FECFB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F2F6B-6685-4C2C-B3FB-45BB8EFA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KAPCSOLAT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2ECDB-F10A-49F2-AA3C-BE6979A2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IPv4/IPv6 • WAN • dinamikus routing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623AE-AD07-4E2D-ACA5-3FD8EE66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4AB1B-D24A-4ED9-B936-11498C4D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673FF-FEB1-4D8F-8790-8EF432E9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SZOLGÁLTATÁSOK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4AFC3-7F7A-4E48-BE08-EE0F8F81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AD • DHCP • DNS • web • fájlmegosztás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2B93CE-5986-488F-8061-492A996F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7BC45-CEB5-4C3D-8089-40CEFD36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42F7D5-E89E-4129-9179-29C03DCE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AUTOMATIZÁLÁS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447682-7CF0-4D1E-9BA2-7A32AE37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Mentés • telepítés • hálózati funkció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1F409E-7406-461A-9204-45AC2962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7E5F3"/>
                </a:solidFill>
              </a:defRPr>
            </a:pPr>
            <a:r>
              <a:rPr sz="1200" b="1">
                <a:solidFill>
                  <a:srgbClr val="D7E5F3"/>
                </a:solidFill>
              </a:rPr>
              <a:t>A hálózatnak egyetlen eszköz vagy kapcsolat kiesése esetén is fenn kell tartania az alapvető működést.</a:t>
            </a:r>
          </a:p>
        </p:txBody>
      </p:sp>
    </p:spTree>
    <p:extLst>
      <p:ext uri="{BB962C8B-B14F-4D97-AF65-F5344CB8AC3E}">
        <p14:creationId xmlns:p14="http://schemas.microsoft.com/office/powerpoint/2010/main" val="2034973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DBC05-DBD5-4459-A597-D78CFAA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BC088-21AE-4134-A874-CF874689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HÁLÓZATI TERV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D84DB-57B4-4983-8C79-8708EF4A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1B3A"/>
                </a:solidFill>
              </a:defRPr>
            </a:pPr>
            <a:r>
              <a:rPr sz="2700" b="1">
                <a:solidFill>
                  <a:srgbClr val="061B3A"/>
                </a:solidFill>
              </a:rPr>
              <a:t>A Packet Tracer-modell összeköti a három telephelyet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A0413-2BBD-4EA2-9910-7A8F4D5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059DF-5AB2-4455-AF67-DF35CA5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"/>
            <a:ext cx="2409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RAPIDROUTE LOGISTICS KFT.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B51B8-2894-4FDD-9EF9-6F9AA8A8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28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33E"/>
                </a:solidFill>
              </a:defRPr>
            </a:pPr>
            <a:r>
              <a:rPr sz="1725" b="1">
                <a:solidFill>
                  <a:srgbClr val="10233E"/>
                </a:solidFill>
              </a:rPr>
              <a:t>A budapesti központ és a két debreceni telephely külön helyi hálózatot kapott; a WAN-kapcsolatot a központi ISP-szegmens fogja össze.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4CFD4-DD7A-4E72-9097-3DE4FAA9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A modellben a határvédelem, a többrétegű kapcsolás és a redundáns útvonalak külön eszközökön jelennek meg.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0FCC2-401D-48C6-9FDC-0DF73044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50E9A-E2E2-45DB-87B2-50909BA4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Budapest: központi iroda és szerveroldal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B9875-181C-4EE5-ADD5-B3398CF1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767E8-75C2-45B4-AAFA-0EA1E03F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Debrecen: logisztikai központ + depó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63A12-A791-43CD-AF01-79D82F1C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84FDF-B256-409B-A4B9-A96B45B2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WAN: R-ISP és SW-ISP központi kapcsolat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2241E-9E58-4789-AE44-1FDF471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9814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42211-2334-4CE9-A04C-2CB1180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290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 város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4D4F7-FAD0-4A18-A300-FE1394F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290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A9D6"/>
                </a:solidFill>
              </a:defRPr>
            </a:pPr>
            <a:r>
              <a:rPr sz="2025" b="1">
                <a:solidFill>
                  <a:srgbClr val="00A9D6"/>
                </a:solidFill>
              </a:rPr>
              <a:t>3 telephely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3785E-3541-43EF-91D4-49FAC16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E0E23-A90D-4172-9ADF-7E6E9A2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028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5E4F2"/>
                </a:solidFill>
              </a:defRPr>
            </a:pPr>
            <a:r>
              <a:rPr sz="1275" b="0">
                <a:solidFill>
                  <a:srgbClr val="D5E4F2"/>
                </a:solidFill>
              </a:rPr>
              <a:t>A topológia külön kezeli a telephelyi LAN-okat, a WAN-t és a biztonsági peremet.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94B13-8085-43F1-973A-8BC9124A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57D"/>
                </a:solidFill>
              </a:defRPr>
            </a:pPr>
            <a:r>
              <a:rPr sz="825" b="0">
                <a:solidFill>
                  <a:srgbClr val="52657D"/>
                </a:solidFill>
              </a:rPr>
              <a:t>Informatikai hálózat- és alkalmazásüzemeltető technikus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1A62F-ACDE-4D86-8120-FE88471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2657D"/>
                </a:solidFill>
              </a:defRPr>
            </a:pPr>
            <a:r>
              <a:rPr sz="825" b="1">
                <a:solidFill>
                  <a:srgbClr val="52657D"/>
                </a:solidFill>
              </a:rPr>
              <a:t>5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aba9277694b99"/>
          <a:stretch xmlns:a="http://schemas.openxmlformats.org/drawingml/2006/main"/>
        </p:blipFill>
        <p:spPr>
          <a:xfrm xmlns:a="http://schemas.openxmlformats.org/drawingml/2006/main">
            <a:off x="7810500" y="2274886"/>
            <a:ext cx="3409950" cy="13366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263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48422B-67E7-4F69-8BF6-0F047F45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353BD-A361-4A99-AC6C-A9458D5A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ESZKÖZPARK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27863-FB23-402E-8B24-2F059145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hálózat Cisco eszközökre épül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20AE9-C239-4B73-9365-3E1C1987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8CCE2"/>
                </a:solidFill>
              </a:defRPr>
            </a:pPr>
            <a:r>
              <a:rPr sz="1350" b="0">
                <a:solidFill>
                  <a:srgbClr val="B8CCE2"/>
                </a:solidFill>
              </a:rPr>
              <a:t>Az eszközlista a Packet Tracer-modellből, a topológia-exportból és az automatizálási célgépekből lett összesítve.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FF976-C68C-480D-8347-82401F5D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125DD-5AAA-4811-BD9E-53C71E31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B7D00-D468-4971-89B5-944238E1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ROUTEREK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89A99-4224-4527-B0E0-2C46BA95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4 × Cisco 2911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R-BUD • R-DEB-01 • R-DEB-02 • R-ISP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85801-FB86-4DE2-8212-1E23CCA9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8FB04-1B92-473F-A9F9-3C938696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494A4-4171-4D44-AE82-674D1185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TŰZFALAK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F35BB-3759-4BDD-82DB-7565336A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3 × Cisco ASA 5506-X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ASA0 • ASA1 • ASA2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D7055-05C7-4352-942C-53CEC780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7B594-450F-41BE-9194-68B01117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1B1DF-25B0-409F-80B6-F550B5F2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CORE RÉTEG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72EB7-8367-4215-AE5C-CC0FF335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4 × Catalyst 3560-24PS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multilayer switch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65E13-50CE-469C-A215-D040FE1A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E3660-88B4-4867-911C-707FECFB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F2F6B-6685-4C2C-B3FB-45BB8EFA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ACCESS RÉTEG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2ECDB-F10A-49F2-AA3C-BE6979A2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5 × Catalyst 2960-24TT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telephelyi + ISP switch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623AE-AD07-4E2D-ACA5-3FD8EE66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4AB1B-D24A-4ED9-B936-11498C4D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673FF-FEB1-4D8F-8790-8EF432E9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VEZETÉK NÉLKÜL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4AFC3-7F7A-4E48-BE08-EE0F8F81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3 × AccessPoint-PT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laptop + tablet kliens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2B93CE-5986-488F-8061-492A996F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7BC45-CEB5-4C3D-8089-40CEFD36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42F7D5-E89E-4129-9179-29C03DCE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VÉGPONTOK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447682-7CF0-4D1E-9BA2-7A32AE37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3 szerver • 15 PC • 6 nyomtató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5 TV • 1 laptop • 1 tablet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1F409E-7406-461A-9204-45AC2962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7E5F3"/>
                </a:solidFill>
              </a:defRPr>
            </a:pPr>
            <a:r>
              <a:rPr sz="1200" b="1">
                <a:solidFill>
                  <a:srgbClr val="D7E5F3"/>
                </a:solidFill>
              </a:rPr>
              <a:t>Az eszköznevek és darabszámok a projekt végleges topológiájával egyeznek.</a:t>
            </a:r>
          </a:p>
        </p:txBody>
      </p:sp>
    </p:spTree>
    <p:extLst>
      <p:ext uri="{BB962C8B-B14F-4D97-AF65-F5344CB8AC3E}">
        <p14:creationId xmlns:p14="http://schemas.microsoft.com/office/powerpoint/2010/main" val="20349731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48422B-67E7-4F69-8BF6-0F047F45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353BD-A361-4A99-AC6C-A9458D5A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HÁLÓZATI FUNKCIÓK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27863-FB23-402E-8B24-2F059145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Szegmentáció, redundancia és védelem egy modellben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20AE9-C239-4B73-9365-3E1C1987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8CCE2"/>
                </a:solidFill>
              </a:defRPr>
            </a:pPr>
            <a:r>
              <a:rPr sz="1350" b="0">
                <a:solidFill>
                  <a:srgbClr val="B8CCE2"/>
                </a:solidFill>
              </a:rPr>
              <a:t>A hálózati vizsgakövetelményeket egymásra épülő második és harmadik rétegbeli megoldások fedik 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FF976-C68C-480D-8347-82401F5D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125DD-5AAA-4811-BD9E-53C71E31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B7D00-D468-4971-89B5-944238E1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SZEGMENTÁCIÓ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89A99-4224-4527-B0E0-2C46BA95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VLAN-ok • trunkok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vendég Wi-Fi • IoT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85801-FB86-4DE2-8212-1E23CCA9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8FB04-1B92-473F-A9F9-3C938696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494A4-4171-4D44-AE82-674D1185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L2 REDUNDANCIA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F35BB-3759-4BDD-82DB-7565336A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STP • EtherChannel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redundáns kapcsolatok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D7055-05C7-4352-942C-53CEC780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7B594-450F-41BE-9194-68B01117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1B1DF-25B0-409F-80B6-F550B5F2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ÁTJÁRÓ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72EB7-8367-4215-AE5C-CC0FF335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HSRP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virtuális alapértelmezett átjáró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65E13-50CE-469C-A215-D040FE1A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E3660-88B4-4867-911C-707FECFB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F2F6B-6685-4C2C-B3FB-45BB8EFA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ÚTVONALVÁLASZTÁS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2ECDB-F10A-49F2-AA3C-BE6979A2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OSPF • statikus útvonalak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WAN-összeköttetés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623AE-AD07-4E2D-ACA5-3FD8EE66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4AB1B-D24A-4ED9-B936-11498C4D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673FF-FEB1-4D8F-8790-8EF432E9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CÍMZÉS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4AFC3-7F7A-4E48-BE08-EE0F8F81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IPv4 kész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IPv6 teszt még szükséges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2B93CE-5986-488F-8061-492A996F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7BC45-CEB5-4C3D-8089-40CEFD36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42F7D5-E89E-4129-9179-29C03DCE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VÉDELEM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447682-7CF0-4D1E-9BA2-7A32AE37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ASA • ACL • NAT • VPN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SSH-kezelés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1F409E-7406-461A-9204-45AC2962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7E5F3"/>
                </a:solidFill>
              </a:defRPr>
            </a:pPr>
            <a:r>
              <a:rPr sz="1200" b="1">
                <a:solidFill>
                  <a:srgbClr val="D7E5F3"/>
                </a:solidFill>
              </a:rPr>
              <a:t>A következő diák külön mutatják a kész konfigurációt, a futási teszteket és a még pótlandó bizonyítékokat.</a:t>
            </a:r>
          </a:p>
        </p:txBody>
      </p:sp>
    </p:spTree>
    <p:extLst>
      <p:ext uri="{BB962C8B-B14F-4D97-AF65-F5344CB8AC3E}">
        <p14:creationId xmlns:p14="http://schemas.microsoft.com/office/powerpoint/2010/main" val="2034973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DBC05-DBD5-4459-A597-D78CFAA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BC088-21AE-4134-A874-CF874689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VLAN ÉS TRUNK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D84DB-57B4-4983-8C79-8708EF4A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1B3A"/>
                </a:solidFill>
              </a:defRPr>
            </a:pPr>
            <a:r>
              <a:rPr sz="2700" b="1">
                <a:solidFill>
                  <a:srgbClr val="061B3A"/>
                </a:solidFill>
              </a:rPr>
              <a:t>A VLAN-ok és trunkok elkülönítik a forgalmat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A0413-2BBD-4EA2-9910-7A8F4D5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059DF-5AB2-4455-AF67-DF35CA5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"/>
            <a:ext cx="2409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RAPIDROUTE LOGISTICS KFT.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2241E-9E58-4789-AE44-1FDF471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9814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42211-2334-4CE9-A04C-2CB1180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9 VLAN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4D4F7-FAD0-4A18-A300-FE1394F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62915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A9D6"/>
                </a:solidFill>
              </a:defRPr>
            </a:pPr>
            <a:r>
              <a:rPr sz="1725" b="1">
                <a:solidFill>
                  <a:srgbClr val="00A9D6"/>
                </a:solidFill>
              </a:rPr>
              <a:t>2 TRUNK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3785E-3541-43EF-91D4-49FAC16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E0E23-A90D-4172-9ADF-7E6E9A2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6730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5E4F2"/>
                </a:solidFill>
              </a:defRPr>
            </a:pPr>
            <a:r>
              <a:rPr sz="975" b="0">
                <a:solidFill>
                  <a:srgbClr val="D5E4F2"/>
                </a:solidFill>
              </a:rPr>
              <a:t>A budapesti és debreceni VLAN-listák külön képen is rendelkezésre állnak.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94B13-8085-43F1-973A-8BC9124A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57D"/>
                </a:solidFill>
              </a:defRPr>
            </a:pPr>
            <a:r>
              <a:rPr sz="825" b="0">
                <a:solidFill>
                  <a:srgbClr val="52657D"/>
                </a:solidFill>
              </a:rPr>
              <a:t>Informatikai hálózat- és alkalmazásüzemeltető technikus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1A62F-ACDE-4D86-8120-FE88471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2657D"/>
                </a:solidFill>
              </a:defRPr>
            </a:pPr>
            <a:r>
              <a:rPr sz="825" b="1">
                <a:solidFill>
                  <a:srgbClr val="52657D"/>
                </a:solidFill>
              </a:rPr>
              <a:t>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335A1E-6137-444F-ABDB-847B8802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Az MLS-BUD-02 két gigabites porton 802.1Q trunkot működtet.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F0C415-8860-4B23-98C7-6790ECDE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D5E4F2"/>
                </a:solidFill>
              </a:defRPr>
            </a:pPr>
            <a:r>
              <a:rPr sz="1050">
                <a:solidFill>
                  <a:srgbClr val="D5E4F2"/>
                </a:solidFill>
              </a:rPr>
              <a:t>A trunkon a VLAN 1, 10, 20, 30, 40, 50, 60, 70 és 99 aktív.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7CED82-B4E1-4D2C-A906-3F4323B2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Felhasználói és szerverforgalom elkülönítve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9E109E-E0C7-4916-8EDE-2E0D3CAD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Vendég-, IoT- és menedzsment VLAN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7D1A51-EA8F-4338-BB70-E1DDD12F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29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Mindkét trunk forwarding állapotú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27b0480394b39"/>
          <a:stretch xmlns:a="http://schemas.openxmlformats.org/drawingml/2006/main"/>
        </p:blipFill>
        <p:spPr>
          <a:xfrm xmlns:a="http://schemas.openxmlformats.org/drawingml/2006/main">
            <a:off x="685800" y="2299574"/>
            <a:ext cx="6477000" cy="302085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263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DBC05-DBD5-4459-A597-D78CFAA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BC088-21AE-4134-A874-CF874689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L2 REDUNDANCIA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D84DB-57B4-4983-8C79-8708EF4A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1B3A"/>
                </a:solidFill>
              </a:defRPr>
            </a:pPr>
            <a:r>
              <a:rPr sz="2700" b="1">
                <a:solidFill>
                  <a:srgbClr val="061B3A"/>
                </a:solidFill>
              </a:rPr>
              <a:t>Az STP kezeli a redundáns L2 kapcsolatokat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A0413-2BBD-4EA2-9910-7A8F4D5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059DF-5AB2-4455-AF67-DF35CA5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"/>
            <a:ext cx="2409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RAPIDROUTE LOGISTICS KFT.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2241E-9E58-4789-AE44-1FDF471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9814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42211-2334-4CE9-A04C-2CB1180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ALT BLK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4D4F7-FAD0-4A18-A300-FE1394F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62915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A9D6"/>
                </a:solidFill>
              </a:defRPr>
            </a:pPr>
            <a:r>
              <a:rPr sz="1725" b="1">
                <a:solidFill>
                  <a:srgbClr val="00A9D6"/>
                </a:solidFill>
              </a:rPr>
              <a:t>2 × FWD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3785E-3541-43EF-91D4-49FAC16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E0E23-A90D-4172-9ADF-7E6E9A2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6730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5E4F2"/>
                </a:solidFill>
              </a:defRPr>
            </a:pPr>
            <a:r>
              <a:rPr sz="975" b="0">
                <a:solidFill>
                  <a:srgbClr val="D5E4F2"/>
                </a:solidFill>
              </a:rPr>
              <a:t>A parancskimenet közvetlenül mutatja az STP portszerepeket és állapotokat.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94B13-8085-43F1-973A-8BC9124A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57D"/>
                </a:solidFill>
              </a:defRPr>
            </a:pPr>
            <a:r>
              <a:rPr sz="825" b="0">
                <a:solidFill>
                  <a:srgbClr val="52657D"/>
                </a:solidFill>
              </a:rPr>
              <a:t>Informatikai hálózat- és alkalmazásüzemeltető technikus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1A62F-ACDE-4D86-8120-FE88471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2657D"/>
                </a:solidFill>
              </a:defRPr>
            </a:pPr>
            <a:r>
              <a:rPr sz="825" b="1">
                <a:solidFill>
                  <a:srgbClr val="52657D"/>
                </a:solidFill>
              </a:rPr>
              <a:t>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782102-CB7B-4DBB-AE9E-94C34216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 VLAN 20-ban az STP egy alternatív útvonalat blokkol.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5878CB-41D6-4FAB-ACC5-8B516659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D5E4F2"/>
                </a:solidFill>
              </a:defRPr>
            </a:pPr>
            <a:r>
              <a:rPr sz="1050">
                <a:solidFill>
                  <a:srgbClr val="D5E4F2"/>
                </a:solidFill>
              </a:rPr>
              <a:t>A Root és Designated portok továbbítanak; az Alternate port BLK állapotú.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7F5792-9F4E-433A-89F0-B967A759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Hurokmentes második rétegbeli topológia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FF7B9B-5F6E-4873-88FD-4EC39D42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A redundáns fizikai kapcsolat megmarad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D20CA0-FBA7-4E53-A55A-2E4CF4C9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29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A root bridge szerep külön ellenőrizve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b63ba6d7a430a"/>
          <a:stretch xmlns:a="http://schemas.openxmlformats.org/drawingml/2006/main"/>
        </p:blipFill>
        <p:spPr>
          <a:xfrm xmlns:a="http://schemas.openxmlformats.org/drawingml/2006/main">
            <a:off x="685800" y="2411828"/>
            <a:ext cx="6477000" cy="27963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263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DBC05-DBD5-4459-A597-D78CFAA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BC088-21AE-4134-A874-CF874689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L3 REDUNDANCIA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D84DB-57B4-4983-8C79-8708EF4A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1B3A"/>
                </a:solidFill>
              </a:defRPr>
            </a:pPr>
            <a:r>
              <a:rPr sz="2700" b="1">
                <a:solidFill>
                  <a:srgbClr val="061B3A"/>
                </a:solidFill>
              </a:rPr>
              <a:t>A HSRP virtuális átjárója aktív állapotba került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A0413-2BBD-4EA2-9910-7A8F4D5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059DF-5AB2-4455-AF67-DF35CA5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"/>
            <a:ext cx="2409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RAPIDROUTE LOGISTICS KFT.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2241E-9E58-4789-AE44-1FDF471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9814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42211-2334-4CE9-A04C-2CB1180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VIP .1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4D4F7-FAD0-4A18-A300-FE1394F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62915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A9D6"/>
                </a:solidFill>
              </a:defRPr>
            </a:pPr>
            <a:r>
              <a:rPr sz="1725" b="1">
                <a:solidFill>
                  <a:srgbClr val="00A9D6"/>
                </a:solidFill>
              </a:rPr>
              <a:t>ACTIVE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3785E-3541-43EF-91D4-49FAC16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E0E23-A90D-4172-9ADF-7E6E9A2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6730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5E4F2"/>
                </a:solidFill>
              </a:defRPr>
            </a:pPr>
            <a:r>
              <a:rPr sz="975" b="0">
                <a:solidFill>
                  <a:srgbClr val="D5E4F2"/>
                </a:solidFill>
              </a:rPr>
              <a:t>A konfiguráció és az aktív átjáró bizonyított; a sikeres failover még nem.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94B13-8085-43F1-973A-8BC9124A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57D"/>
                </a:solidFill>
              </a:defRPr>
            </a:pPr>
            <a:r>
              <a:rPr sz="825" b="0">
                <a:solidFill>
                  <a:srgbClr val="52657D"/>
                </a:solidFill>
              </a:rPr>
              <a:t>Informatikai hálózat- és alkalmazásüzemeltető technikus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1A62F-ACDE-4D86-8120-FE88471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2657D"/>
                </a:solidFill>
              </a:defRPr>
            </a:pPr>
            <a:r>
              <a:rPr sz="825" b="1">
                <a:solidFill>
                  <a:srgbClr val="52657D"/>
                </a:solidFill>
              </a:rPr>
              <a:t>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727E73-606F-4C31-A641-B8BF9C26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 VLAN 20 virtuális átjárója a 10.10.20.1 cím.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2AFB60-DF66-4E6F-BB3C-A17C112D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D5E4F2"/>
                </a:solidFill>
              </a:defRPr>
            </a:pPr>
            <a:r>
              <a:rPr sz="1050">
                <a:solidFill>
                  <a:srgbClr val="D5E4F2"/>
                </a:solidFill>
              </a:rPr>
              <a:t>A prioritás 110, a preempt engedélyezett; az állapot Standby után Active lett.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245722-4D21-424C-BC08-4AAF7A09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Speak → Standby → Active állapotváltás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BDF915-D059-4957-985A-DDD1FAB3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A kliens 4/4 válasszal elérte a VIP-t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2748E0-2767-42F4-940D-F47BC3E0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29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A kiesési próbát újra kell futtatni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947d36088453a"/>
          <a:stretch xmlns:a="http://schemas.openxmlformats.org/drawingml/2006/main"/>
        </p:blipFill>
        <p:spPr>
          <a:xfrm xmlns:a="http://schemas.openxmlformats.org/drawingml/2006/main">
            <a:off x="685800" y="2599105"/>
            <a:ext cx="6477000" cy="24217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263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DBC05-DBD5-4459-A597-D78CFAA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BC088-21AE-4134-A874-CF874689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DINAMIKUS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D84DB-57B4-4983-8C79-8708EF4A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1B3A"/>
                </a:solidFill>
              </a:defRPr>
            </a:pPr>
            <a:r>
              <a:rPr sz="2700" b="1">
                <a:solidFill>
                  <a:srgbClr val="061B3A"/>
                </a:solidFill>
              </a:rPr>
              <a:t>Az OSPF-konfigurációhoz működő WAN-tranzit tartozik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A0413-2BBD-4EA2-9910-7A8F4D5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059DF-5AB2-4455-AF67-DF35CA5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"/>
            <a:ext cx="2409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RAPIDROUTE LOGISTICS KFT.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2241E-9E58-4789-AE44-1FDF471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9814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42211-2334-4CE9-A04C-2CB1180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OSPF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4D4F7-FAD0-4A18-A300-FE1394F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62915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A9D6"/>
                </a:solidFill>
              </a:defRPr>
            </a:pPr>
            <a:r>
              <a:rPr sz="1725" b="1">
                <a:solidFill>
                  <a:srgbClr val="00A9D6"/>
                </a:solidFill>
              </a:rPr>
              <a:t>100% 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3785E-3541-43EF-91D4-49FAC16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E0E23-A90D-4172-9ADF-7E6E9A2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6730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5E4F2"/>
                </a:solidFill>
              </a:defRPr>
            </a:pPr>
            <a:r>
              <a:rPr sz="975" b="0">
                <a:solidFill>
                  <a:srgbClr val="D5E4F2"/>
                </a:solidFill>
              </a:rPr>
              <a:t>A konfiguráció és a közvetlen tranzit bizonyított; az adjacency élőben még bemutatható.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94B13-8085-43F1-973A-8BC9124A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57D"/>
                </a:solidFill>
              </a:defRPr>
            </a:pPr>
            <a:r>
              <a:rPr sz="825" b="0">
                <a:solidFill>
                  <a:srgbClr val="52657D"/>
                </a:solidFill>
              </a:rPr>
              <a:t>Informatikai hálózat- és alkalmazásüzemeltető technikus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1A62F-ACDE-4D86-8120-FE88471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2657D"/>
                </a:solidFill>
              </a:defRPr>
            </a:pPr>
            <a:r>
              <a:rPr sz="825" b="1">
                <a:solidFill>
                  <a:srgbClr val="52657D"/>
                </a:solidFill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7BD41E-1F0F-438D-A32E-C9FB7852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 debreceni L3 switch OSPF process 1-et és 2.2.2.2 router ID-t használ.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B327EA-C8B7-4D92-BCD6-2FB6AE70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D5E4F2"/>
                </a:solidFill>
              </a:defRPr>
            </a:pPr>
            <a:r>
              <a:rPr sz="1050">
                <a:solidFill>
                  <a:srgbClr val="D5E4F2"/>
                </a:solidFill>
              </a:rPr>
              <a:t>Az area 0-ban a tranzit /30 hálózat és öt telephelyi VLAN szerepel.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7ADD42-F1C9-48A4-9E88-210A7D2D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10.20.254.0/30 tranzithálózat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2F8BA9-7641-4BDD-94C6-2499757E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VLAN 20, 40, 60, 70 és 99 hirdetve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46842A-F7FE-4C45-9D3D-39EBAA9F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29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A router felé 5/5 ping sikeres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f819ae33247e1"/>
          <a:stretch xmlns:a="http://schemas.openxmlformats.org/drawingml/2006/main"/>
        </p:blipFill>
        <p:spPr>
          <a:xfrm xmlns:a="http://schemas.openxmlformats.org/drawingml/2006/main">
            <a:off x="851290" y="1809750"/>
            <a:ext cx="6146020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263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DBC05-DBD5-4459-A597-D78CFAA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BC088-21AE-4134-A874-CF874689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DHCP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D84DB-57B4-4983-8C79-8708EF4A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1B3A"/>
                </a:solidFill>
              </a:defRPr>
            </a:pPr>
            <a:r>
              <a:rPr sz="2700" b="1">
                <a:solidFill>
                  <a:srgbClr val="061B3A"/>
                </a:solidFill>
              </a:rPr>
              <a:t>A DHCP-poolok automatikusan címezik a VLAN-okat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A0413-2BBD-4EA2-9910-7A8F4D5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059DF-5AB2-4455-AF67-DF35CA5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"/>
            <a:ext cx="2409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RAPIDROUTE LOGISTICS KFT.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2241E-9E58-4789-AE44-1FDF471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9814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42211-2334-4CE9-A04C-2CB1180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10 POOL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4D4F7-FAD0-4A18-A300-FE1394F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62915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A9D6"/>
                </a:solidFill>
              </a:defRPr>
            </a:pPr>
            <a:r>
              <a:rPr sz="1725" b="1">
                <a:solidFill>
                  <a:srgbClr val="00A9D6"/>
                </a:solidFill>
              </a:rPr>
              <a:t>DHCP 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3785E-3541-43EF-91D4-49FAC16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E0E23-A90D-4172-9ADF-7E6E9A2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6730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5E4F2"/>
                </a:solidFill>
              </a:defRPr>
            </a:pPr>
            <a:r>
              <a:rPr sz="975" b="0">
                <a:solidFill>
                  <a:srgbClr val="D5E4F2"/>
                </a:solidFill>
              </a:rPr>
              <a:t>A poolkonfiguráció igazolt; egy kliensbérletet célszerű élőben is bemutatni.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94B13-8085-43F1-973A-8BC9124A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57D"/>
                </a:solidFill>
              </a:defRPr>
            </a:pPr>
            <a:r>
              <a:rPr sz="825" b="0">
                <a:solidFill>
                  <a:srgbClr val="52657D"/>
                </a:solidFill>
              </a:rPr>
              <a:t>Informatikai hálózat- és alkalmazásüzemeltető technikus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1A62F-ACDE-4D86-8120-FE88471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2657D"/>
                </a:solidFill>
              </a:defRPr>
            </a:pPr>
            <a:r>
              <a:rPr sz="825" b="1">
                <a:solidFill>
                  <a:srgbClr val="52657D"/>
                </a:solidFill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7CE340-E67D-4197-8BF2-9CF3AEAA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 központi Packet Tracer szerver több VLAN számára tart fenn külön poolt.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20B2E-583E-446C-BCF9-46B25086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D5E4F2"/>
                </a:solidFill>
              </a:defRPr>
            </a:pPr>
            <a:r>
              <a:rPr sz="1050">
                <a:solidFill>
                  <a:srgbClr val="D5E4F2"/>
                </a:solidFill>
              </a:rPr>
              <a:t>Budapest és Debrecen Office, Guest, IoT és Management hálózatai elkülönülnek.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DE2BD1-338C-4F0E-9194-F1D4CEF4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VLAN-onként saját átjáró és címtartomány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CB4AA-6EF1-4D76-839A-22C48988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Belső DNS-kiszolgáló: 10.10.50.11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3B8949-8945-472B-9018-876F5C09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29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Tíz üzleti VLAN-pool látható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f331678b04bec"/>
          <a:stretch xmlns:a="http://schemas.openxmlformats.org/drawingml/2006/main"/>
        </p:blipFill>
        <p:spPr>
          <a:xfrm xmlns:a="http://schemas.openxmlformats.org/drawingml/2006/main">
            <a:off x="685800" y="2209726"/>
            <a:ext cx="6477000" cy="32005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263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DBC05-DBD5-4459-A597-D78CFAA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BC088-21AE-4134-A874-CF874689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TŰZFAL ÉS NAT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D84DB-57B4-4983-8C79-8708EF4A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1B3A"/>
                </a:solidFill>
              </a:defRPr>
            </a:pPr>
            <a:r>
              <a:rPr sz="2700" b="1">
                <a:solidFill>
                  <a:srgbClr val="061B3A"/>
                </a:solidFill>
              </a:rPr>
              <a:t>Az ASA ACL-lel és NAT-tal védi a hálózati peremet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A0413-2BBD-4EA2-9910-7A8F4D5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059DF-5AB2-4455-AF67-DF35CA5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"/>
            <a:ext cx="2409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RAPIDROUTE LOGISTICS KFT.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2241E-9E58-4789-AE44-1FDF471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9814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42211-2334-4CE9-A04C-2CB1180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ACL HIT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4D4F7-FAD0-4A18-A300-FE1394F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62915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A9D6"/>
                </a:solidFill>
              </a:defRPr>
            </a:pPr>
            <a:r>
              <a:rPr sz="1725" b="1">
                <a:solidFill>
                  <a:srgbClr val="00A9D6"/>
                </a:solidFill>
              </a:rPr>
              <a:t>XLATE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3785E-3541-43EF-91D4-49FAC16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E0E23-A90D-4172-9ADF-7E6E9A2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6730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5E4F2"/>
                </a:solidFill>
              </a:defRPr>
            </a:pPr>
            <a:r>
              <a:rPr sz="975" b="0">
                <a:solidFill>
                  <a:srgbClr val="D5E4F2"/>
                </a:solidFill>
              </a:rPr>
              <a:t>A dinamikus PAT forgalmi tesztjét még külön kell rögzíteni.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94B13-8085-43F1-973A-8BC9124A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57D"/>
                </a:solidFill>
              </a:defRPr>
            </a:pPr>
            <a:r>
              <a:rPr sz="825" b="0">
                <a:solidFill>
                  <a:srgbClr val="52657D"/>
                </a:solidFill>
              </a:rPr>
              <a:t>Informatikai hálózat- és alkalmazásüzemeltető technikus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1A62F-ACDE-4D86-8120-FE88471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2657D"/>
                </a:solidFill>
              </a:defRPr>
            </a:pPr>
            <a:r>
              <a:rPr sz="825" b="1">
                <a:solidFill>
                  <a:srgbClr val="52657D"/>
                </a:solidFill>
              </a:rPr>
              <a:t>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9F4917-F443-41C4-8E7E-326D1410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Az ACL hit counterek és az xlate tábla futásidőben is adnak bizonyítékot.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8CFA90-0DB2-40C1-BE9B-839A43F8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D5E4F2"/>
                </a:solidFill>
              </a:defRPr>
            </a:pPr>
            <a:r>
              <a:rPr sz="1050">
                <a:solidFill>
                  <a:srgbClr val="D5E4F2"/>
                </a:solidFill>
              </a:rPr>
              <a:t>A statikus NAT a 10.10.40.12 belső címet a 10.255.0.100 külső címre fordítja.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BDE616-FDAF-4860-9E94-92795C69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BUD–DEB forgalom külön ACL-ekkel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560D00-10F7-4A7F-A3E5-C4760CAC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Aktív statikus NAT-bejegyzés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A47199-7689-4EA3-A60D-381A46B1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29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A Guest hálózathoz dinamikus PAT konfigurálva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f107067214fc3"/>
          <a:stretch xmlns:a="http://schemas.openxmlformats.org/drawingml/2006/main"/>
        </p:blipFill>
        <p:spPr>
          <a:xfrm xmlns:a="http://schemas.openxmlformats.org/drawingml/2006/main">
            <a:off x="875138" y="1809750"/>
            <a:ext cx="6098323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263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DBC05-DBD5-4459-A597-D78CFAA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BC088-21AE-4134-A874-CF874689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VPN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D84DB-57B4-4983-8C79-8708EF4A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1B3A"/>
                </a:solidFill>
              </a:defRPr>
            </a:pPr>
            <a:r>
              <a:rPr sz="2700" b="1">
                <a:solidFill>
                  <a:srgbClr val="061B3A"/>
                </a:solidFill>
              </a:rPr>
              <a:t>A site-to-site VPN konfigurációja elkészült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A0413-2BBD-4EA2-9910-7A8F4D5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059DF-5AB2-4455-AF67-DF35CA5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"/>
            <a:ext cx="2409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RAPIDROUTE LOGISTICS KFT.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2241E-9E58-4789-AE44-1FDF471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9814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42211-2334-4CE9-A04C-2CB1180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 PEER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4D4F7-FAD0-4A18-A300-FE1394F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62915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A9D6"/>
                </a:solidFill>
              </a:defRPr>
            </a:pPr>
            <a:r>
              <a:rPr sz="1725" b="1">
                <a:solidFill>
                  <a:srgbClr val="00A9D6"/>
                </a:solidFill>
              </a:rPr>
              <a:t>IPSEC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3785E-3541-43EF-91D4-49FAC16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E0E23-A90D-4172-9ADF-7E6E9A2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6730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5E4F2"/>
                </a:solidFill>
              </a:defRPr>
            </a:pPr>
            <a:r>
              <a:rPr sz="975" b="0">
                <a:solidFill>
                  <a:srgbClr val="D5E4F2"/>
                </a:solidFill>
              </a:rPr>
              <a:t>A tunnel-up állapot és a titkosított forgalom élő bizonyítása még hátra van.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94B13-8085-43F1-973A-8BC9124A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57D"/>
                </a:solidFill>
              </a:defRPr>
            </a:pPr>
            <a:r>
              <a:rPr sz="825" b="0">
                <a:solidFill>
                  <a:srgbClr val="52657D"/>
                </a:solidFill>
              </a:rPr>
              <a:t>Informatikai hálózat- és alkalmazásüzemeltető technikus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1A62F-ACDE-4D86-8120-FE88471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2657D"/>
                </a:solidFill>
              </a:defRPr>
            </a:pPr>
            <a:r>
              <a:rPr sz="825" b="1">
                <a:solidFill>
                  <a:srgbClr val="52657D"/>
                </a:solidFill>
              </a:rPr>
              <a:t>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C67147-976F-436F-A514-D81053F5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Az ASA-BUD két debreceni peer felé tart fenn külön crypto map bejegyzést.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7A9181-FEB9-47BC-A8A2-0FB180AF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D5E4F2"/>
                </a:solidFill>
              </a:defRPr>
            </a:pPr>
            <a:r>
              <a:rPr sz="1050">
                <a:solidFill>
                  <a:srgbClr val="D5E4F2"/>
                </a:solidFill>
              </a:rPr>
              <a:t>Az IKEv1/IPsec konfiguráció AES és SHA transzformációt, valamint VPN ACL-eket használ.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67C3BE-AB29-48BE-AF93-B4A75E84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BUD–DEB01 és BUD–DEB02 forgalom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7321E3-6336-4BE3-8541-8E702BB1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Crypto map az outside interfészen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70CCE0-B9E4-44E3-91BB-500682D8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29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• A konfigurációk mentése megtörtént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77a58c7374d03"/>
          <a:stretch xmlns:a="http://schemas.openxmlformats.org/drawingml/2006/main"/>
        </p:blipFill>
        <p:spPr>
          <a:xfrm xmlns:a="http://schemas.openxmlformats.org/drawingml/2006/main">
            <a:off x="685800" y="2335793"/>
            <a:ext cx="6477000" cy="29484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263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48422B-67E7-4F69-8BF6-0F047F45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353BD-A361-4A99-AC6C-A9458D5A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HÁLÓZATAUTOMATIZÁLÁS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27863-FB23-402E-8B24-2F059145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Netmiko-script hét Cisco IOS eszközt kezel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20AE9-C239-4B73-9365-3E1C1987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8CCE2"/>
                </a:solidFill>
              </a:defRPr>
            </a:pPr>
            <a:r>
              <a:rPr sz="1350" b="0">
                <a:solidFill>
                  <a:srgbClr val="B8CCE2"/>
                </a:solidFill>
              </a:rPr>
              <a:t>A Python-kód SSH-n csatlakozik, konfigurál, ment, majd eszközönként időbélyeges backupot készít.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FF976-C68C-480D-8347-82401F5D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125DD-5AAA-4811-BD9E-53C71E31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B7D00-D468-4971-89B5-944238E1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ESZKÖZLISTA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89A99-4224-4527-B0E0-2C46BA95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7 Cisco IOS célgép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3 router • 4 MLS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85801-FB86-4DE2-8212-1E23CCA9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8FB04-1B92-473F-A9F9-3C938696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494A4-4171-4D44-AE82-674D1185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SSH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F35BB-3759-4BDD-82DB-7565336A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ConnectHandler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biztonságos jelszóbekérés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D7055-05C7-4352-942C-53CEC780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7B594-450F-41BE-9194-68B01117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1B1DF-25B0-409F-80B6-F550B5F2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LEKÉRDEZÉS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72EB7-8367-4215-AE5C-CC0FF335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show ip interface brief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running-config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65E13-50CE-469C-A215-D040FE1A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E3660-88B4-4867-911C-707FECFB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F2F6B-6685-4C2C-B3FB-45BB8EFA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KONFIGURÁCIÓ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2ECDB-F10A-49F2-AA3C-BE6979A2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időbélyeg • MOTD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VTY timeout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623AE-AD07-4E2D-ACA5-3FD8EE66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4AB1B-D24A-4ED9-B936-11498C4D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673FF-FEB1-4D8F-8790-8EF432E9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MENTÉS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4AFC3-7F7A-4E48-BE08-EE0F8F81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save_config()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startup-config frissítése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2B93CE-5986-488F-8061-492A996F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7BC45-CEB5-4C3D-8089-40CEFD36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42F7D5-E89E-4129-9179-29C03DCE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BACKUP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447682-7CF0-4D1E-9BA2-7A32AE37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időbélyeges TXT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eszközönként külön fájl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1F409E-7406-461A-9204-45AC2962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7E5F3"/>
                </a:solidFill>
              </a:defRPr>
            </a:pPr>
            <a:r>
              <a:rPr sz="1200" b="1">
                <a:solidFill>
                  <a:srgbClr val="D7E5F3"/>
                </a:solidFill>
              </a:rPr>
              <a:t>A script megvalósítása kész; a sikeres, teljes futás kimenetét még rögzíteni kell.</a:t>
            </a:r>
          </a:p>
        </p:txBody>
      </p:sp>
    </p:spTree>
    <p:extLst>
      <p:ext uri="{BB962C8B-B14F-4D97-AF65-F5344CB8AC3E}">
        <p14:creationId xmlns:p14="http://schemas.microsoft.com/office/powerpoint/2010/main" val="20349731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48422B-67E7-4F69-8BF6-0F047F45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353BD-A361-4A99-AC6C-A9458D5A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SZERVERPROTOTÍPUS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27863-FB23-402E-8B24-2F059145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Négy virtuális gép szolgálja ki a vállalati funkciókat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20AE9-C239-4B73-9365-3E1C1987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8CCE2"/>
                </a:solidFill>
              </a:defRPr>
            </a:pPr>
            <a:r>
              <a:rPr sz="1350" b="0">
                <a:solidFill>
                  <a:srgbClr val="B8CCE2"/>
                </a:solidFill>
              </a:rPr>
              <a:t>A VMware-alapú laborhálózat a 192.168.186.0/24 tartományban működik; a tartományi DNS az RR-DC01.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FF976-C68C-480D-8347-82401F5D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125DD-5AAA-4811-BD9E-53C71E31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B7D00-D468-4971-89B5-944238E1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RR-DC01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89A99-4224-4527-B0E0-2C46BA95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192.168.186.10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AD DS • DNS • GPO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85801-FB86-4DE2-8212-1E23CCA9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8FB04-1B92-473F-A9F9-3C938696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494A4-4171-4D44-AE82-674D1185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RR-FS01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F35BB-3759-4BDD-82DB-7565336A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192.168.186.20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fájl • nyomtató • mentés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D7055-05C7-4352-942C-53CEC780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7B594-450F-41BE-9194-68B01117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1B1DF-25B0-409F-80B6-F550B5F2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RR-WEB01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72EB7-8367-4215-AE5C-CC0FF335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192.168.186.30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Ubuntu • Apache • SSH/UFW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65E13-50CE-469C-A215-D040FE1A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E3660-88B4-4867-911C-707FECFB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F2F6B-6685-4C2C-B3FB-45BB8EFA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RR-CLIENT01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2ECDB-F10A-49F2-AA3C-BE6979A2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192.168.186.40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Windows 10 Pro • tartományi kliens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623AE-AD07-4E2D-ACA5-3FD8EE66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4AB1B-D24A-4ED9-B936-11498C4D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673FF-FEB1-4D8F-8790-8EF432E9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TARTOMÁNY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4AFC3-7F7A-4E48-BE08-EE0F8F81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rapidroute.local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központi hitelesítés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2B93CE-5986-488F-8061-492A996F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7BC45-CEB5-4C3D-8089-40CEFD36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42F7D5-E89E-4129-9179-29C03DCE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VALIDÁCIÓ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447682-7CF0-4D1E-9BA2-7A32AE37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25 PASS • 0 FAIL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végponttól végpontig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1F409E-7406-461A-9204-45AC2962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7E5F3"/>
                </a:solidFill>
              </a:defRPr>
            </a:pPr>
            <a:r>
              <a:rPr sz="1200" b="1">
                <a:solidFill>
                  <a:srgbClr val="D7E5F3"/>
                </a:solidFill>
              </a:rPr>
              <a:t>A Windows- és Linux-kiszolgálói követelményeket egy integrált Windows kliens igazolja.</a:t>
            </a:r>
          </a:p>
        </p:txBody>
      </p:sp>
    </p:spTree>
    <p:extLst>
      <p:ext uri="{BB962C8B-B14F-4D97-AF65-F5344CB8AC3E}">
        <p14:creationId xmlns:p14="http://schemas.microsoft.com/office/powerpoint/2010/main" val="20349731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DBC05-DBD5-4459-A597-D78CFAA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BC088-21AE-4134-A874-CF874689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RR-DC01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D84DB-57B4-4983-8C79-8708EF4A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1B3A"/>
                </a:solidFill>
              </a:defRPr>
            </a:pPr>
            <a:r>
              <a:rPr sz="2700" b="1">
                <a:solidFill>
                  <a:srgbClr val="061B3A"/>
                </a:solidFill>
              </a:rPr>
              <a:t>Központi címtár, névfeloldás és csoportházirend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A0413-2BBD-4EA2-9910-7A8F4D5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059DF-5AB2-4455-AF67-DF35CA5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"/>
            <a:ext cx="2409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RAPIDROUTE LOGISTICS KFT.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B51B8-2894-4FDD-9EF9-6F9AA8A8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28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33E"/>
                </a:solidFill>
              </a:defRPr>
            </a:pPr>
            <a:r>
              <a:rPr sz="1725" b="1">
                <a:solidFill>
                  <a:srgbClr val="10233E"/>
                </a:solidFill>
              </a:rPr>
              <a:t>A Windows Server 2012 R2 tartományvezérlő a rapidroute.local címtár és a belső DNS központja.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4CFD4-DD7A-4E72-9097-3DE4FAA9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Az OU-struktúra, a felhasználók és csoportok, valamint a kliens-alapszabályok és a 7-Zip telepítési GPO is működik.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0FCC2-401D-48C6-9FDC-0DF73044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50E9A-E2E2-45DB-87B2-50909BA4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RR-CLIENT01 a RapidRoute/Computers OU-ban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B9875-181C-4EE5-ADD5-B3398CF1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767E8-75C2-45B4-AAFA-0EA1E03F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teszt.budapest a GG_Budapest_Users tagja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63A12-A791-43CD-AF01-79D82F1C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84FDF-B256-409B-A4B9-A96B45B2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Jogi üzenet • 900 mp inaktivitás • 7-Zip GPO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2241E-9E58-4789-AE44-1FDF471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9814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42211-2334-4CE9-A04C-2CB1180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290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IP .10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4D4F7-FAD0-4A18-A300-FE1394F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290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A9D6"/>
                </a:solidFill>
              </a:defRPr>
            </a:pPr>
            <a:r>
              <a:rPr sz="2025" b="1">
                <a:solidFill>
                  <a:srgbClr val="00A9D6"/>
                </a:solidFill>
              </a:rPr>
              <a:t>2 GPO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3785E-3541-43EF-91D4-49FAC16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E0E23-A90D-4172-9ADF-7E6E9A2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028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5E4F2"/>
                </a:solidFill>
              </a:defRPr>
            </a:pPr>
            <a:r>
              <a:rPr sz="1275" b="0">
                <a:solidFill>
                  <a:srgbClr val="D5E4F2"/>
                </a:solidFill>
              </a:rPr>
              <a:t>A gpresult és a rendszerleíró adatbázis igazolja az alkalmazott házirendeket.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94B13-8085-43F1-973A-8BC9124A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57D"/>
                </a:solidFill>
              </a:defRPr>
            </a:pPr>
            <a:r>
              <a:rPr sz="825" b="0">
                <a:solidFill>
                  <a:srgbClr val="52657D"/>
                </a:solidFill>
              </a:rPr>
              <a:t>Informatikai hálózat- és alkalmazásüzemeltető technikus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1A62F-ACDE-4D86-8120-FE88471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2657D"/>
                </a:solidFill>
              </a:defRPr>
            </a:pPr>
            <a:r>
              <a:rPr sz="825" b="1">
                <a:solidFill>
                  <a:srgbClr val="52657D"/>
                </a:solidFill>
              </a:rPr>
              <a:t>17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49720ab194610"/>
          <a:stretch xmlns:a="http://schemas.openxmlformats.org/drawingml/2006/main"/>
        </p:blipFill>
        <p:spPr>
          <a:xfrm xmlns:a="http://schemas.openxmlformats.org/drawingml/2006/main">
            <a:off x="7859174" y="2095500"/>
            <a:ext cx="3312602" cy="1695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263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DBC05-DBD5-4459-A597-D78CFAA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BC088-21AE-4134-A874-CF874689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RR-FS01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D84DB-57B4-4983-8C79-8708EF4A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1B3A"/>
                </a:solidFill>
              </a:defRPr>
            </a:pPr>
            <a:r>
              <a:rPr sz="2700" b="1">
                <a:solidFill>
                  <a:srgbClr val="061B3A"/>
                </a:solidFill>
              </a:rPr>
              <a:t>Jogosultságvezérelt fájl- és nyomtatószolgáltatás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A0413-2BBD-4EA2-9910-7A8F4D5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059DF-5AB2-4455-AF67-DF35CA5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"/>
            <a:ext cx="2409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RAPIDROUTE LOGISTICS KFT.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B51B8-2894-4FDD-9EF9-6F9AA8A8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28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33E"/>
                </a:solidFill>
              </a:defRPr>
            </a:pPr>
            <a:r>
              <a:rPr sz="1725" b="1">
                <a:solidFill>
                  <a:srgbClr val="10233E"/>
                </a:solidFill>
              </a:rPr>
              <a:t>A fájlkiszolgáló a telephelyi megosztásokat, a közös nyomtatót, a szoftverforrást és az automatizált mentési feladatot kezeli.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4CFD4-DD7A-4E72-9097-3DE4FAA9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A teszt.budapest fiók a budapesti megosztáson fájlt hozott létre, a két debreceni megosztás pedig helyesen megtagadta a hozzáférést.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0FCC2-401D-48C6-9FDC-0DF73044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50E9A-E2E2-45DB-87B2-50909BA4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Budapest: elérés és írás sikeres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B9875-181C-4EE5-ADD5-B3398CF1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767E8-75C2-45B4-AAFA-0EA1E03F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Debrecen_Logisztika + Debrecen_Depo: tiltva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63A12-A791-43CD-AF01-79D82F1C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84FDF-B256-409B-A4B9-A96B45B2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RR-Office-Printer: csatlakoztatva és elérhető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2241E-9E58-4789-AE44-1FDF471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9814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42211-2334-4CE9-A04C-2CB1180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290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IP .20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4D4F7-FAD0-4A18-A300-FE1394F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290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A9D6"/>
                </a:solidFill>
              </a:defRPr>
            </a:pPr>
            <a:r>
              <a:rPr sz="2025" b="1">
                <a:solidFill>
                  <a:srgbClr val="00A9D6"/>
                </a:solidFill>
              </a:rPr>
              <a:t>FÁJL + PRINT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3785E-3541-43EF-91D4-49FAC16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E0E23-A90D-4172-9ADF-7E6E9A2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028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5E4F2"/>
                </a:solidFill>
              </a:defRPr>
            </a:pPr>
            <a:r>
              <a:rPr sz="1275" b="0">
                <a:solidFill>
                  <a:srgbClr val="D5E4F2"/>
                </a:solidFill>
              </a:rPr>
              <a:t>A hozzáférési teszt a megengedett és a tiltott útvonalakat is ellenőrizte.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94B13-8085-43F1-973A-8BC9124A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57D"/>
                </a:solidFill>
              </a:defRPr>
            </a:pPr>
            <a:r>
              <a:rPr sz="825" b="0">
                <a:solidFill>
                  <a:srgbClr val="52657D"/>
                </a:solidFill>
              </a:rPr>
              <a:t>Informatikai hálózat- és alkalmazásüzemeltető technikus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1A62F-ACDE-4D86-8120-FE88471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2657D"/>
                </a:solidFill>
              </a:defRPr>
            </a:pPr>
            <a:r>
              <a:rPr sz="825" b="1">
                <a:solidFill>
                  <a:srgbClr val="52657D"/>
                </a:solidFill>
              </a:rPr>
              <a:t>18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54b610ea34d0a"/>
          <a:stretch xmlns:a="http://schemas.openxmlformats.org/drawingml/2006/main"/>
        </p:blipFill>
        <p:spPr>
          <a:xfrm xmlns:a="http://schemas.openxmlformats.org/drawingml/2006/main">
            <a:off x="8000597" y="2095500"/>
            <a:ext cx="3029755" cy="1695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263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DBC05-DBD5-4459-A597-D78CFAA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BC088-21AE-4134-A874-CF874689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RR-WEB01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D84DB-57B4-4983-8C79-8708EF4A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1B3A"/>
                </a:solidFill>
              </a:defRPr>
            </a:pPr>
            <a:r>
              <a:rPr sz="2700" b="1">
                <a:solidFill>
                  <a:srgbClr val="061B3A"/>
                </a:solidFill>
              </a:rPr>
              <a:t>Linux-alapú HTTP/HTTPS szolgáltatás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A0413-2BBD-4EA2-9910-7A8F4D5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059DF-5AB2-4455-AF67-DF35CA5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"/>
            <a:ext cx="2409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RAPIDROUTE LOGISTICS KFT.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B51B8-2894-4FDD-9EF9-6F9AA8A8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28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33E"/>
                </a:solidFill>
              </a:defRPr>
            </a:pPr>
            <a:r>
              <a:rPr sz="1725" b="1">
                <a:solidFill>
                  <a:srgbClr val="10233E"/>
                </a:solidFill>
              </a:rPr>
              <a:t>Az Ubuntu 24.04.3 kiszolgálón az Apache közzéteszi a RapidRoute oldalt HTTP és HTTPS csatornán.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4CFD4-DD7A-4E72-9097-3DE4FAA9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A belső DNS a www.rapidroute.local nevet a 192.168.186.30 címre oldja fel; a kliens mindkét protokollon 200 választ kapott.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0FCC2-401D-48C6-9FDC-0DF73044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50E9A-E2E2-45DB-87B2-50909BA4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Apache webkiszolgáló és belső DNS-rekord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B9875-181C-4EE5-ADD5-B3398CF1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767E8-75C2-45B4-AAFA-0EA1E03F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HTTPS-tanúsítvány megbízható a kliensen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63A12-A791-43CD-AF01-79D82F1C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84FDF-B256-409B-A4B9-A96B45B2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SSH-adminisztráció és UFW-védelem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2241E-9E58-4789-AE44-1FDF471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9814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42211-2334-4CE9-A04C-2CB1180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290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IP .30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4D4F7-FAD0-4A18-A300-FE1394F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290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A9D6"/>
                </a:solidFill>
              </a:defRPr>
            </a:pPr>
            <a:r>
              <a:rPr sz="2025" b="1">
                <a:solidFill>
                  <a:srgbClr val="00A9D6"/>
                </a:solidFill>
              </a:rPr>
              <a:t>HTTP(S) 200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3785E-3541-43EF-91D4-49FAC16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E0E23-A90D-4172-9ADF-7E6E9A2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028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5E4F2"/>
                </a:solidFill>
              </a:defRPr>
            </a:pPr>
            <a:r>
              <a:rPr sz="1275" b="0">
                <a:solidFill>
                  <a:srgbClr val="D5E4F2"/>
                </a:solidFill>
              </a:rPr>
              <a:t>A kliens a tanúsítvány-ellenőrzés megkerülése nélkül érte el a HTTPS-oldalt.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94B13-8085-43F1-973A-8BC9124A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57D"/>
                </a:solidFill>
              </a:defRPr>
            </a:pPr>
            <a:r>
              <a:rPr sz="825" b="0">
                <a:solidFill>
                  <a:srgbClr val="52657D"/>
                </a:solidFill>
              </a:rPr>
              <a:t>Informatikai hálózat- és alkalmazásüzemeltető technikus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1A62F-ACDE-4D86-8120-FE88471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2657D"/>
                </a:solidFill>
              </a:defRPr>
            </a:pPr>
            <a:r>
              <a:rPr sz="825" b="1">
                <a:solidFill>
                  <a:srgbClr val="52657D"/>
                </a:solidFill>
              </a:rPr>
              <a:t>19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55ad2b0b346ab"/>
          <a:stretch xmlns:a="http://schemas.openxmlformats.org/drawingml/2006/main"/>
        </p:blipFill>
        <p:spPr>
          <a:xfrm xmlns:a="http://schemas.openxmlformats.org/drawingml/2006/main">
            <a:off x="7810500" y="2096309"/>
            <a:ext cx="3409950" cy="16938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263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DBC05-DBD5-4459-A597-D78CFAA9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BC088-21AE-4134-A874-CF874689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RR-CLIENT01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D84DB-57B4-4983-8C79-8708EF4A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1B3A"/>
                </a:solidFill>
              </a:defRPr>
            </a:pPr>
            <a:r>
              <a:rPr sz="2700" b="1">
                <a:solidFill>
                  <a:srgbClr val="061B3A"/>
                </a:solidFill>
              </a:rPr>
              <a:t>A kliens igazolja a teljes szolgáltatási láncot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A0413-2BBD-4EA2-9910-7A8F4D5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059DF-5AB2-4455-AF67-DF35CA5E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"/>
            <a:ext cx="2409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RAPIDROUTE LOGISTICS KFT.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B51B8-2894-4FDD-9EF9-6F9AA8A8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28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33E"/>
                </a:solidFill>
              </a:defRPr>
            </a:pPr>
            <a:r>
              <a:rPr sz="1725" b="1">
                <a:solidFill>
                  <a:srgbClr val="10233E"/>
                </a:solidFill>
              </a:rPr>
              <a:t>A Windows 10 Pro gép statikus címmel, tartományi DNS-sel és biztonságos tartományi csatornával csatlakozik a laborhoz.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4CFD4-DD7A-4E72-9097-3DE4FAA9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A teszt a hitelesítéstől a GPO-kon át a fájl-, nyomtató- és webszolgáltatásokig minden integrált elemet ellenőrzött.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0FCC2-401D-48C6-9FDC-0DF73044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50E9A-E2E2-45DB-87B2-50909BA4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Tartományi tagság és csoporttagság rendben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B9875-181C-4EE5-ADD5-B3398CF1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767E8-75C2-45B4-AAFA-0EA1E03F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7-Zip 26.02 x64 automatikusan települt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63A12-A791-43CD-AF01-79D82F1C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84FDF-B256-409B-A4B9-A96B45B2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569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E"/>
                </a:solidFill>
              </a:defRPr>
            </a:pPr>
            <a:r>
              <a:rPr sz="1350" b="0">
                <a:solidFill>
                  <a:srgbClr val="10233E"/>
                </a:solidFill>
              </a:rPr>
              <a:t>Megosztások • nyomtató • DNS • HTTP/HTTPS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2241E-9E58-4789-AE44-1FDF471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9814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42211-2334-4CE9-A04C-2CB1180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290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25 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4D4F7-FAD0-4A18-A300-FE1394F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290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A9D6"/>
                </a:solidFill>
              </a:defRPr>
            </a:pPr>
            <a:r>
              <a:rPr sz="2025" b="1">
                <a:solidFill>
                  <a:srgbClr val="00A9D6"/>
                </a:solidFill>
              </a:rPr>
              <a:t>0 FAIL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3785E-3541-43EF-91D4-49FAC16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E0E23-A90D-4172-9ADF-7E6E9A2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028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5E4F2"/>
                </a:solidFill>
              </a:defRPr>
            </a:pPr>
            <a:r>
              <a:rPr sz="1275" b="0">
                <a:solidFill>
                  <a:srgbClr val="D5E4F2"/>
                </a:solidFill>
              </a:rPr>
              <a:t>A végső, csak olvasó validáció 25 sikeres ellenőrzéssel zárult.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94B13-8085-43F1-973A-8BC9124A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57D"/>
                </a:solidFill>
              </a:defRPr>
            </a:pPr>
            <a:r>
              <a:rPr sz="825" b="0">
                <a:solidFill>
                  <a:srgbClr val="52657D"/>
                </a:solidFill>
              </a:rPr>
              <a:t>Informatikai hálózat- és alkalmazásüzemeltető technikus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1A62F-ACDE-4D86-8120-FE88471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2657D"/>
                </a:solidFill>
              </a:defRPr>
            </a:pPr>
            <a:r>
              <a:rPr sz="825" b="1">
                <a:solidFill>
                  <a:srgbClr val="52657D"/>
                </a:solidFill>
              </a:rPr>
              <a:t>20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eac7ec5d34644"/>
          <a:stretch xmlns:a="http://schemas.openxmlformats.org/drawingml/2006/main"/>
        </p:blipFill>
        <p:spPr>
          <a:xfrm xmlns:a="http://schemas.openxmlformats.org/drawingml/2006/main">
            <a:off x="7810500" y="2193036"/>
            <a:ext cx="3409950" cy="15003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263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458EEA-C8A6-4560-996D-F903A8DA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21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B7934-8D25-48E8-93BF-06FEC014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CSAPATMUNKA ÉS BIZONYÍTÉK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7CA26-DDBB-4A4E-8191-17ECB434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1B3A"/>
                </a:solidFill>
              </a:defRPr>
            </a:pPr>
            <a:r>
              <a:rPr sz="2700" b="1">
                <a:solidFill>
                  <a:srgbClr val="061B3A"/>
                </a:solidFill>
              </a:rPr>
              <a:t>A feladatmegosztás minden részt bizonyíthatóvá tesz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25AC5-72FB-4D02-901C-C21BE25F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EA9D5-0346-4172-858A-D235E4CC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7675"/>
            <a:ext cx="2409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57D"/>
                </a:solidFill>
              </a:defRPr>
            </a:pPr>
            <a:r>
              <a:rPr sz="900" b="1">
                <a:solidFill>
                  <a:srgbClr val="52657D"/>
                </a:solidFill>
              </a:rPr>
              <a:t>RAPIDROUTE LOGISTICS KFT.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5EC38-CB9B-40A0-AFE3-6693F59E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43250"/>
            <a:ext cx="666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C8F31-2010-48F0-9259-0C44B609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143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89F8D-10DF-4C9B-9C24-A46F7E5C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143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A22CD-8D29-42F7-92F3-F1F373DA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143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F33EC-A523-455C-957A-2FC74BD3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383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2E919-5014-4CDC-A668-A402BCC7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0982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PROJEKT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B9997-5697-46C1-AD6C-F4824312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09875"/>
            <a:ext cx="47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B98A2-A0B2-42F3-8A0F-7B1DE659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0099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3D340-EAE8-4468-A8F0-BD943B96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B4D0D-833D-491F-AFE8-A3E326D0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E5886-36CC-49E7-9EAD-FF47BDB0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HÁLÓZAT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8C5EA-0D83-44FB-B673-6ADBC115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34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61B3A"/>
                </a:solidFill>
              </a:defRPr>
            </a:pPr>
            <a:r>
              <a:rPr sz="1425" b="1">
                <a:solidFill>
                  <a:srgbClr val="061B3A"/>
                </a:solidFill>
              </a:rPr>
              <a:t>Gomba László + Kun Roland Béla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D6563-D37D-44FA-AD61-362BEDC0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57D"/>
                </a:solidFill>
              </a:defRPr>
            </a:pPr>
            <a:r>
              <a:rPr sz="1125" b="0">
                <a:solidFill>
                  <a:srgbClr val="52657D"/>
                </a:solidFill>
              </a:rPr>
              <a:t>topológia • VLAN/trunk • STP/HSRP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57D"/>
                </a:solidFill>
              </a:defRPr>
            </a:pPr>
            <a:r>
              <a:rPr sz="1125" b="0">
                <a:solidFill>
                  <a:srgbClr val="52657D"/>
                </a:solidFill>
              </a:rPr>
              <a:t>OSPF/DHCP • ASA/ACL/NAT/VPN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57D"/>
                </a:solidFill>
              </a:defRPr>
            </a:pPr>
            <a:r>
              <a:rPr sz="1125" b="0">
                <a:solidFill>
                  <a:srgbClr val="52657D"/>
                </a:solidFill>
              </a:rPr>
              <a:t>mentések • Netmiko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ED48B-E773-431A-8623-CBA05767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52875"/>
            <a:ext cx="30099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272B9-FE4C-47B6-B01A-EDD14A63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52875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002A8-2679-40B3-8DAA-3FB6B95E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F151E-EFE7-4A18-86D7-D698193C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71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SZERVER ÉS KLIENS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802E35-0020-435A-A54D-E764D05A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434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61B3A"/>
                </a:solidFill>
              </a:defRPr>
            </a:pPr>
            <a:r>
              <a:rPr sz="1725" b="1">
                <a:solidFill>
                  <a:srgbClr val="061B3A"/>
                </a:solidFill>
              </a:rPr>
              <a:t>Szénás Szabolcs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D787B5-A7BE-42D0-9089-8186DCE6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101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57D"/>
                </a:solidFill>
              </a:defRPr>
            </a:pPr>
            <a:r>
              <a:rPr sz="1125" b="0">
                <a:solidFill>
                  <a:srgbClr val="52657D"/>
                </a:solidFill>
              </a:rPr>
              <a:t>AD/DNS/GPO • fájl/nyomtató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57D"/>
                </a:solidFill>
              </a:defRPr>
            </a:pPr>
            <a:r>
              <a:rPr sz="1125" b="0">
                <a:solidFill>
                  <a:srgbClr val="52657D"/>
                </a:solidFill>
              </a:rPr>
              <a:t>mentés • web/HTTPS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57D"/>
                </a:solidFill>
              </a:defRPr>
            </a:pPr>
            <a:r>
              <a:rPr sz="1125" b="0">
                <a:solidFill>
                  <a:srgbClr val="52657D"/>
                </a:solidFill>
              </a:rPr>
              <a:t>kliensintegráció • 25/0 teszt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4BACCB-C5B7-47E3-BE54-1BD23184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52875"/>
            <a:ext cx="30099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527994-8F4E-40A0-A311-1B0094CC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52875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6831D2-39CD-4B66-8835-8219BE4A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719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63B78"/>
                </a:solidFill>
              </a:defRPr>
            </a:pPr>
            <a:r>
              <a:rPr sz="1125" b="1">
                <a:solidFill>
                  <a:srgbClr val="063B78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FCCC84-EBC5-44F4-A820-DC755464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57D"/>
                </a:solidFill>
              </a:defRPr>
            </a:pPr>
            <a:r>
              <a:rPr sz="975" b="1">
                <a:solidFill>
                  <a:srgbClr val="52657D"/>
                </a:solidFill>
              </a:rPr>
              <a:t>KÖZÖS LEADÁS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3253A1-D9B6-4658-8623-22D8828B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434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61B3A"/>
                </a:solidFill>
              </a:defRPr>
            </a:pPr>
            <a:r>
              <a:rPr sz="1725" b="1">
                <a:solidFill>
                  <a:srgbClr val="061B3A"/>
                </a:solidFill>
              </a:rPr>
              <a:t>Dokumentáció és bemutató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68C0CE-C4AD-4D4D-B3D3-08C079C1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57D"/>
                </a:solidFill>
              </a:defRPr>
            </a:pPr>
            <a:r>
              <a:rPr sz="1125" b="0">
                <a:solidFill>
                  <a:srgbClr val="52657D"/>
                </a:solidFill>
              </a:rPr>
              <a:t>GitHub-verziókezelés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57D"/>
                </a:solidFill>
              </a:defRPr>
            </a:pPr>
            <a:r>
              <a:rPr sz="1125" b="0">
                <a:solidFill>
                  <a:srgbClr val="52657D"/>
                </a:solidFill>
              </a:rPr>
              <a:t>technikai és tesztdokumentáció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2657D"/>
                </a:solidFill>
              </a:defRPr>
            </a:pPr>
            <a:r>
              <a:rPr sz="1125" b="0">
                <a:solidFill>
                  <a:srgbClr val="52657D"/>
                </a:solidFill>
              </a:rPr>
              <a:t>prezentáció • videó • próba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317AA7-2A7A-473D-BF2A-3B96DD5B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57D"/>
                </a:solidFill>
              </a:defRPr>
            </a:pPr>
            <a:r>
              <a:rPr sz="825" b="0">
                <a:solidFill>
                  <a:srgbClr val="52657D"/>
                </a:solidFill>
              </a:rPr>
              <a:t>Packet Tracer • VMware • PowerShell • Linux CLI • Python/Netmiko • GitHub • Discord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C398B8-E108-4762-AABC-E36E5BE7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2657D"/>
                </a:solidFill>
              </a:defRPr>
            </a:pPr>
            <a:r>
              <a:rPr sz="825" b="1">
                <a:solidFill>
                  <a:srgbClr val="52657D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5585942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6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48422B-67E7-4F69-8BF6-0F047F45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353BD-A361-4A99-AC6C-A9458D5A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9D6"/>
                </a:solidFill>
              </a:defRPr>
            </a:pPr>
            <a:r>
              <a:rPr sz="1050" b="1">
                <a:solidFill>
                  <a:srgbClr val="00A9D6"/>
                </a:solidFill>
              </a:rPr>
              <a:t>VIZSGAKÉSZENLÉT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27863-FB23-402E-8B24-2F059145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műszaki alap kész, öt célzott élő próba maradt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20AE9-C239-4B73-9365-3E1C1987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8CCE2"/>
                </a:solidFill>
              </a:defRPr>
            </a:pPr>
            <a:r>
              <a:rPr sz="1350" b="0">
                <a:solidFill>
                  <a:srgbClr val="B8CCE2"/>
                </a:solidFill>
              </a:rPr>
              <a:t>A szerver- és kliensvalidáció hibamentes; a hálózati funkciók nagy részéhez parancskimenet vagy futási teszt is rendelkezésre áll.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FF976-C68C-480D-8347-82401F5D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125DD-5AAA-4811-BD9E-53C71E31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B7D00-D468-4971-89B5-944238E1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HÁLÓZATI ALAPOK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89A99-4224-4527-B0E0-2C46BA95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IGAZOLT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VLAN • trunk • STP • HSRP VIP • WAN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85801-FB86-4DE2-8212-1E23CCA9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8FB04-1B92-473F-A9F9-3C938696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494A4-4171-4D44-AE82-674D1185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PEREMVÉDELEM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F35BB-3759-4BDD-82DB-7565336A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RÉSZBEN IGAZOLT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ACL • statikus NAT • VPN/PAT konfiguráció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D7055-05C7-4352-942C-53CEC780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7B594-450F-41BE-9194-68B01117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1B1DF-25B0-409F-80B6-F550B5F2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38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SZERVER + KLIENS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72EB7-8367-4215-AE5C-CC0FF335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IGAZOLT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AD/DNS/GPO • fájl/print • HTTP(S)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25 PASS • 0 FAIL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65E13-50CE-469C-A215-D040FE1A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E3660-88B4-4867-911C-707FECFB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F2F6B-6685-4C2C-B3FB-45BB8EFA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DOKUMENTÁCIÓ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2ECDB-F10A-49F2-AA3C-BE6979A2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KÉSZ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GitHub + technikai leírások + képek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623AE-AD07-4E2D-ACA5-3FD8EE66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4AB1B-D24A-4ED9-B936-11498C4D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673FF-FEB1-4D8F-8790-8EF432E9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900"/>
                </a:solidFill>
              </a:defRPr>
            </a:pPr>
            <a:r>
              <a:rPr sz="1125" b="1">
                <a:solidFill>
                  <a:srgbClr val="FF7900"/>
                </a:solidFill>
              </a:rPr>
              <a:t>ÉLŐ PRÓBÁK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4AFC3-7F7A-4E48-BE08-EE0F8F81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PÓTLANDÓ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HSRP failover • IPv6 • PAT • VPN • Netmiko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2B93CE-5986-488F-8061-492A996F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29125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50"/>
          </a:solidFill>
          <a:ln xmlns:a="http://schemas.openxmlformats.org/drawingml/2006/main" w="9525">
            <a:solidFill>
              <a:srgbClr val="315A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7BC45-CEB5-4C3D-8089-40CEFD36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29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42F7D5-E89E-4129-9179-29C03DCE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10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9D6"/>
                </a:solidFill>
              </a:defRPr>
            </a:pPr>
            <a:r>
              <a:rPr sz="1125" b="1">
                <a:solidFill>
                  <a:srgbClr val="00A9D6"/>
                </a:solidFill>
              </a:rPr>
              <a:t>KÖZÖS LEADÁS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447682-7CF0-4D1E-9BA2-7A32AE37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933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HÁTRAVAN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2–5 perces videó + próbaelőadás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1F409E-7406-461A-9204-45AC2962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7E5F3"/>
                </a:solidFill>
              </a:defRPr>
            </a:pPr>
            <a:r>
              <a:rPr sz="1200" b="1">
                <a:solidFill>
                  <a:srgbClr val="D7E5F3"/>
                </a:solidFill>
              </a:rPr>
              <a:t>A hiányok nem üres konfigurációk: a már elkészült megoldások célzott futási bizonyítékai.</a:t>
            </a:r>
          </a:p>
        </p:txBody>
      </p:sp>
    </p:spTree>
    <p:extLst>
      <p:ext uri="{BB962C8B-B14F-4D97-AF65-F5344CB8AC3E}">
        <p14:creationId xmlns:p14="http://schemas.microsoft.com/office/powerpoint/2010/main" val="203497312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6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C3403-DFE0-42C4-AF29-66E3EDD8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DB35E-4925-43C5-95EF-570380A8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5CE93-D733-43F6-B850-AF5A2227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838200"/>
            <a:ext cx="4953000" cy="518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c4ad525134292"/>
          <a:stretch xmlns:a="http://schemas.openxmlformats.org/drawingml/2006/main"/>
        </p:blipFill>
        <p:spPr>
          <a:xfrm xmlns:a="http://schemas.openxmlformats.org/drawingml/2006/main">
            <a:off x="6953250" y="2218518"/>
            <a:ext cx="4191000" cy="156371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AA238-931D-47ED-A69C-BACBE835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A9D6"/>
                </a:solidFill>
              </a:defRPr>
            </a:pPr>
            <a:r>
              <a:rPr sz="1200" b="1">
                <a:solidFill>
                  <a:srgbClr val="00A9D6"/>
                </a:solidFill>
              </a:rPr>
              <a:t>ÖSSZEFOGLALÁS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C0DC2-1ECF-4605-8F6D-00350A37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429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Működő szerverlabor,</a:t>
            </a:r>
          </a:p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bizonyított hálózati</a:t>
            </a:r>
          </a:p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megvalósítás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1EFF3-F5C4-4AEF-A883-76CCED88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C6E5"/>
                </a:solidFill>
              </a:defRPr>
            </a:pPr>
            <a:r>
              <a:rPr sz="1500" b="0">
                <a:solidFill>
                  <a:srgbClr val="A9C6E5"/>
                </a:solidFill>
              </a:rPr>
              <a:t>3 telephely • 4 virtuális gép • bizonyítékokra épülő vizsgaanyag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4A025-37D2-4FCB-B74D-6D5DFFD7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94543-6F95-4143-95DE-5D9E4182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Készítette: Gomba László • Kun Roland Béla • Szénás Szabolcs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2A093-9D22-434D-960E-23B6CC1B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9C6E5"/>
                </a:solidFill>
              </a:defRPr>
            </a:pPr>
            <a:r>
              <a:rPr sz="1050" b="1">
                <a:solidFill>
                  <a:srgbClr val="A9C6E5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048171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2026-09-05T17:26:24.8610000Z</dcterms:created>
  <dcterms:modified xsi:type="dcterms:W3CDTF">2026-09-05T17:26:24.8610000Z</dcterms:modified>
</coreProperties>
</file>